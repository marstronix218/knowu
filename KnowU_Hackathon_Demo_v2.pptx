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9f404af65b7418b" Type="http://schemas.openxmlformats.org/officeDocument/2006/relationships/extended-properties" Target="docProps/app.xml"/><Relationship Id="Rb134eb932bb44698" Type="http://schemas.openxmlformats.org/package/2006/relationships/metadata/core-properties" Target="docProps/core.xml"/><Relationship Id="Rc8f097d9f94d4de3"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7049e91eee834fa3"/>
  </p:sldMasterIdLst>
  <p:notesMasterIdLst>
    <p:notesMasterId xmlns:r="http://schemas.openxmlformats.org/officeDocument/2006/relationships" r:id="R992c61a737e54e68"/>
  </p:notesMasterIdLst>
  <p:sldIdLst>
    <p:sldId xmlns:ns0="http://schemas.openxmlformats.org/officeDocument/2006/relationships" id="256" ns0:id="rId6"/>
    <p:sldId xmlns:ns0="http://schemas.openxmlformats.org/officeDocument/2006/relationships" id="257" ns0:id="rId7"/>
    <p:sldId xmlns:ns0="http://schemas.openxmlformats.org/officeDocument/2006/relationships" id="258" ns0:id="rId8"/>
    <p:sldId xmlns:ns0="http://schemas.openxmlformats.org/officeDocument/2006/relationships" id="259" ns0:id="rId9"/>
    <p:sldId xmlns:ns0="http://schemas.openxmlformats.org/officeDocument/2006/relationships" id="260" ns0:id="rId10"/>
    <p:sldId xmlns:ns0="http://schemas.openxmlformats.org/officeDocument/2006/relationships" id="261" ns0:id="rId11"/>
    <p:sldId xmlns:ns0="http://schemas.openxmlformats.org/officeDocument/2006/relationships" id="262" ns0:id="rId12"/>
    <p:sldId xmlns:ns0="http://schemas.openxmlformats.org/officeDocument/2006/relationships" id="263" ns0:id="rId13"/>
    <p:sldId xmlns:ns0="http://schemas.openxmlformats.org/officeDocument/2006/relationships" id="264" ns0:id="rId14"/>
    <p:sldId xmlns:ns0="http://schemas.openxmlformats.org/officeDocument/2006/relationships" id="265" ns0:id="rId1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32c73d7196484585" Type="http://schemas.openxmlformats.org/officeDocument/2006/relationships/theme" Target="theme/theme1.xml"/><Relationship Id="R5b830483cc434043" Type="http://schemas.openxmlformats.org/officeDocument/2006/relationships/tableStyles" Target="tableStyles.xml"/><Relationship Id="R7049e91eee834fa3" Type="http://schemas.openxmlformats.org/officeDocument/2006/relationships/slideMaster" Target="slideMasters/slideMaster1.xml"/><Relationship Id="R992c61a737e54e68" Type="http://schemas.openxmlformats.org/officeDocument/2006/relationships/notesMaster" Target="notesMasters/notesMaster1.xml"/><Relationship Id="Re4ff8c5c9c6e4d74" Type="http://schemas.openxmlformats.org/officeDocument/2006/relationships/presProps" Target="presProp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0c7ba88f88134455"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15 seconds.</a:t>
            </a:r>
          </a:p>
          <a:p/>
          <a:p>
            <a:r>
              <a:t>KnowU is a personal AI that remembers more about you while sending less context on every request.</a:t>
            </a:r>
          </a:p>
          <a:p/>
          <a:p>
            <a:r>
              <a:t>We built it for Track 1, Cost of Intelligence — so the headline is the number: across every measured run, KnowU answers the same question with 65% fewer input tokens.</a:t>
            </a:r>
          </a:p>
          <a:p/>
          <a:p>
            <a:r>
              <a:t>That is not a projection. It is nine logged inference runs, and every one of them is a row in Snowflake.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25 seconds.</a:t>
            </a:r>
          </a:p>
          <a:p/>
          <a:p>
            <a:r>
              <a:t>The default way to personalize an assistant is to keep appending — profile, history, every conversation — and send it all again on the next request. Cost grows even when almost none of that context is relevant to what was just asked.</a:t>
            </a:r>
          </a:p>
          <a:p/>
          <a:p>
            <a:r>
              <a:t>We watched it happen in our own logs: as this user's memory grew from 5 facts to 8, the full-context prompt nearly doubled, 1,173 to 2,566 tokens.</a:t>
            </a:r>
          </a:p>
          <a:p/>
          <a:p>
            <a:r>
              <a:t>KnowU inverts the rule. The current question decides what gets retrieved and how much is allowed to be sent.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30 seconds.</a:t>
            </a:r>
          </a:p>
          <a:p/>
          <a:p>
            <a:r>
              <a:t>Three steps.</a:t>
            </a:r>
          </a:p>
          <a:p/>
          <a:p>
            <a:r>
              <a:t>Observe — KnowU watches low-risk local signals and organizes them into work threads. The raw material never leaves the machine.</a:t>
            </a:r>
          </a:p>
          <a:p/>
          <a:p>
            <a:r>
              <a:t>Retrieve — this is the core. Every question goes to EverOS hybrid search before it goes to a model. EverOS returns only the approved memories that are relevant, and a deterministic packer spends whatever budget is left on the highest-value evidence. We retrieve instead of summarizing, which is why the prompt gets smaller without another model call.</a:t>
            </a:r>
          </a:p>
          <a:p/>
          <a:p>
            <a:r>
              <a:t>Prove — the provider answers once, and Snowflake stores the aggregate economics so the saving is auditable without exporting anyone's personal history.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30 seconds.</a:t>
            </a:r>
          </a:p>
          <a:p/>
          <a:p>
            <a:r>
              <a:t>This is the layer that makes the number possible.</a:t>
            </a:r>
          </a:p>
          <a:p/>
          <a:p>
            <a:r>
              <a:t>KnowU is built on the EverOS Personal Memory API v1, and it uses all of it. We write approved facts and corrections through the memories endpoint. We flush to force extraction so new facts are retrievable immediately. And every single question — not every session, every question — goes through hybrid search.</a:t>
            </a:r>
          </a:p>
          <a:p/>
          <a:p>
            <a:r>
              <a:t>That last call is the whole trick. We are not compressing a big prompt with another model. We are retrieving a small one. Retrieval is cheaper than summarization and it is auditable.</a:t>
            </a:r>
          </a:p>
          <a:p/>
          <a:p>
            <a:r>
              <a:t>Behind it is a vendor-isolated MemoryService interface, so the product logic never knows which memory backend it is talking to. And the boundary is deliberate: approved memories go to EverOS, raw behaviour never does.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30 seconds. This is the slide the track is asking for.</a:t>
            </a:r>
          </a:p>
          <a:p/>
          <a:p>
            <a:r>
              <a:t>Nine real inference runs, logged locally and synced to Snowflake. Average input-token reduction: 65%. The worst run was 58%. The best was 76%.</a:t>
            </a:r>
          </a:p>
          <a:p/>
          <a:p>
            <a:r>
              <a:t>In absolute terms: 15,442 input tokens of full context became 5,323. Ten thousand tokens saved across nine questions — about 1,124 per question.</a:t>
            </a:r>
          </a:p>
          <a:p/>
          <a:p>
            <a:r>
              <a:t>One point on honesty, because judges will ask. The prompt we actually sent is measured from the provider's own reported usage. The baseline is the prompt we deliberately did not send, scaled by the same deterministic ratio — and the product labels it as an estimate on screen. We never show an estimated number as if it were measured.</a:t>
            </a:r>
          </a:p>
          <a:p/>
          <a:p>
            <a:r>
              <a:t>Input tokens are the cost driver here. A 65% cut in input tokens is a 65% cut in the input bill, on any model, at any scale.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25 seconds. This is the part that makes it a business, not a trick.</a:t>
            </a:r>
          </a:p>
          <a:p/>
          <a:p>
            <a:r>
              <a:t>Same user, same app, two points in time. Early on, with 5 memories, full context was about 1,330 tokens and we sent 384 — saving roughly 946 per question.</a:t>
            </a:r>
          </a:p>
          <a:p/>
          <a:p>
            <a:r>
              <a:t>Later, with 8 memories, full context had grown to about 2,487. We sent 1,007. Saved 1,480.</a:t>
            </a:r>
          </a:p>
          <a:p/>
          <a:p>
            <a:r>
              <a:t>So as the assistant got more personal, the saving per question grew 56%. That is the opposite of how personalization normally behaves.</a:t>
            </a:r>
          </a:p>
          <a:p/>
          <a:p>
            <a:r>
              <a:t>The reason is structural: a full-context prompt grows with everything the user has ever done, while KnowU's prompt grows only with what the current question needs. The gap widens on its own. Time is on our side.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25 seconds.</a:t>
            </a:r>
          </a:p>
          <a:p/>
          <a:p>
            <a:r>
              <a:t>A cost claim nobody can inspect is a marketing claim. So the comparison lives in the product, not just in this deck.</a:t>
            </a:r>
          </a:p>
          <a:p/>
          <a:p>
            <a:r>
              <a:t>On one question the user sees which approved memories EverOS returned, which evidence fit the budget, the full-versus-optimized token comparison, and the measurement method that produced those numbers.</a:t>
            </a:r>
          </a:p>
          <a:p/>
          <a:p>
            <a:r>
              <a:t>And to be precise about what is happening: the larger prompt is never sent to a model. It is an answer-equivalent baseline we build purely for comparison. The optimized prompt is the only thing that actually produces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25 seconds.</a:t>
            </a:r>
          </a:p>
          <a:p/>
          <a:p>
            <a:r>
              <a:t>Every answer writes one aggregate row to Snowflake through the SQL API — model, baseline versus optimized tokens, tokens saved, reduction percentage, real provider usage, budget and units sent, cache counts, latency, and crucially the measurement method.</a:t>
            </a:r>
          </a:p>
          <a:p/>
          <a:p>
            <a:r>
              <a:t>On top of that sits CONTEXT_ECONOMICS_SUMMARY, which rolls it into daily totals and average reduction. That is what turns a single saving into a trend you can chart, alert on, and charge back.</a:t>
            </a:r>
          </a:p>
          <a:p/>
          <a:p>
            <a:r>
              <a:t>And note what is not in there. Snowflake never receives the question, the answer, the memory text, URLs, or window titles. It is numeric telemetry only. The token-counting feature that would send prompt text to Snowflake ships turned off.</a:t>
            </a:r>
          </a:p>
          <a:p/>
          <a:p>
            <a:r>
              <a:t>That is the point: you can prove the economics without exporting anyone's life.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60 seconds.</a:t>
            </a:r>
          </a:p>
          <a:p/>
          <a:p>
            <a:r>
              <a:t>Live path:</a:t>
            </a:r>
          </a:p>
          <a:p>
            <a:r>
              <a:t>1. Open Now and show the reconstructed KnowU implementation thread.</a:t>
            </a:r>
          </a:p>
          <a:p>
            <a:r>
              <a:t>2. Choose Ask with context and ask: "What should I prioritize when building the production version?"</a:t>
            </a:r>
          </a:p>
          <a:p>
            <a:r>
              <a:t>3. Point at the memories EverOS returned and the selected-thread evidence that fit the budget.</a:t>
            </a:r>
          </a:p>
          <a:p>
            <a:r>
              <a:t>4. Open Context Economics and read the two numbers out loud — Full Context vs KnowU Context, and the reduction percentage.</a:t>
            </a:r>
          </a:p>
          <a:p>
            <a:r>
              <a:t>5. Show the Snowflake telemetry status, or a prepared CONTEXT_ECONOMICS_SUMMARY result.</a:t>
            </a:r>
          </a:p>
          <a:p/>
          <a:p>
            <a:r>
              <a:t>If the live app is risky on the venue network, drop a pre-recorded 50-60 second capture into the frame and narrate the same five beats.</a:t>
            </a:r>
          </a:p>
          <a:p/>
          <a:p>
            <a:r>
              <a:t>Before demoing: export EVEROS_API_KEY and EVEROS_USER_ID in the shell that launches the app, then hit Seed demo memories, so runs log the EverOS provider rather than the local fallback path.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20 seconds.</a:t>
            </a:r>
          </a:p>
          <a:p/>
          <a:p>
            <a:r>
              <a:t>The pitch in one line: KnowU makes the assistant more personal without making every request heavier.</a:t>
            </a:r>
          </a:p>
          <a:p/>
          <a:p>
            <a:r>
              <a:t>Raw behaviour stays local. EverOS holds the approved memory and answers a hybrid search on every question. Snowflake proves the economics.</a:t>
            </a:r>
          </a:p>
          <a:p/>
          <a:p>
            <a:r>
              <a:t>Sixty-five percent fewer input tokens across every run we measured — and because the baseline grows with the relationship while our prompt grows only with the question, that gap widens the longer someone uses it.</a:t>
            </a:r>
          </a:p>
          <a:p/>
          <a:p>
            <a:r>
              <a:t>Every token should have to earn its place.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52700751f03f45cd"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2a97209898264578" Type="http://schemas.openxmlformats.org/officeDocument/2006/relationships/slideLayout" Target="../slideLayouts/slideLayout1.xml"/><Relationship Id="R70a3890a84704007"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9720989826457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D0D"/>
        </a:solidFill>
        <a:effectLst/>
      </p:bgPr>
    </p:bg>
    <p:spTree>
      <p:nvGrpSpPr>
        <p:cNvPr id="1" name=""/>
        <p:cNvGrpSpPr/>
        <p:nvPr/>
      </p:nvGrpSpPr>
      <p:grpSpPr/>
      <p:sp>
        <p:nvSpPr>
          <p:cNvPr id="2" name="TextBox 1"/>
          <p:cNvSpPr txBox="1"/>
          <p:nvPr/>
        </p:nvSpPr>
        <p:spPr>
          <a:xfrm>
            <a:off x="493776" y="402336"/>
            <a:ext cx="7315200" cy="274320"/>
          </a:xfrm>
          <a:prstGeom prst="rect">
            <a:avLst/>
          </a:prstGeom>
          <a:noFill/>
        </p:spPr>
        <p:txBody>
          <a:bodyPr wrap="square" lIns="0" rIns="0" tIns="0" bIns="0" anchor="t">
            <a:spAutoFit/>
          </a:bodyPr>
          <a:lstStyle/>
          <a:p>
            <a:pPr algn="l">
              <a:lnSpc>
                <a:spcPct val="115000"/>
              </a:lnSpc>
              <a:spcAft>
                <a:spcPts val="0"/>
              </a:spcAft>
            </a:pPr>
            <a:r>
              <a:rPr sz="1300" b="1" spc="110">
                <a:solidFill>
                  <a:srgbClr val="B7FF3C"/>
                </a:solidFill>
              </a:rPr>
              <a:t>SNOWFLAKE  ×  BETA FUND  ×  EVERMIND HACKATHON</a:t>
            </a:r>
          </a:p>
        </p:txBody>
      </p:sp>
      <p:sp>
        <p:nvSpPr>
          <p:cNvPr id="3" name="TextBox 2"/>
          <p:cNvSpPr txBox="1"/>
          <p:nvPr/>
        </p:nvSpPr>
        <p:spPr>
          <a:xfrm>
            <a:off x="493776" y="1481328"/>
            <a:ext cx="6766560" cy="1143000"/>
          </a:xfrm>
          <a:prstGeom prst="rect">
            <a:avLst/>
          </a:prstGeom>
          <a:noFill/>
        </p:spPr>
        <p:txBody>
          <a:bodyPr wrap="square" lIns="0" rIns="0" tIns="0" bIns="0" anchor="t">
            <a:spAutoFit/>
          </a:bodyPr>
          <a:lstStyle/>
          <a:p>
            <a:pPr algn="l">
              <a:lnSpc>
                <a:spcPct val="100000"/>
              </a:lnSpc>
              <a:spcAft>
                <a:spcPts val="0"/>
              </a:spcAft>
            </a:pPr>
            <a:r>
              <a:rPr sz="6600" b="1">
                <a:solidFill>
                  <a:srgbClr val="EDF3EC"/>
                </a:solidFill>
              </a:rPr>
              <a:t>KnowU</a:t>
            </a:r>
          </a:p>
        </p:txBody>
      </p:sp>
      <p:sp>
        <p:nvSpPr>
          <p:cNvPr id="4" name="TextBox 3"/>
          <p:cNvSpPr txBox="1"/>
          <p:nvPr/>
        </p:nvSpPr>
        <p:spPr>
          <a:xfrm>
            <a:off x="493776" y="2834640"/>
            <a:ext cx="6309360" cy="1463040"/>
          </a:xfrm>
          <a:prstGeom prst="rect">
            <a:avLst/>
          </a:prstGeom>
          <a:noFill/>
        </p:spPr>
        <p:txBody>
          <a:bodyPr wrap="square" lIns="0" rIns="0" tIns="0" bIns="0" anchor="t">
            <a:spAutoFit/>
          </a:bodyPr>
          <a:lstStyle/>
          <a:p>
            <a:pPr algn="l">
              <a:lnSpc>
                <a:spcPct val="112000"/>
              </a:lnSpc>
              <a:spcAft>
                <a:spcPts val="0"/>
              </a:spcAft>
            </a:pPr>
            <a:r>
              <a:rPr sz="3600" b="1">
                <a:solidFill>
                  <a:srgbClr val="EDF3EC"/>
                </a:solidFill>
              </a:rPr>
              <a:t>Remembers more.</a:t>
            </a:r>
          </a:p>
          <a:p>
            <a:pPr algn="l">
              <a:lnSpc>
                <a:spcPct val="112000"/>
              </a:lnSpc>
              <a:spcAft>
                <a:spcPts val="0"/>
              </a:spcAft>
            </a:pPr>
            <a:r>
              <a:rPr sz="3600" b="1">
                <a:solidFill>
                  <a:srgbClr val="EDF3EC"/>
                </a:solidFill>
              </a:rPr>
              <a:t>Sends less.</a:t>
            </a:r>
          </a:p>
        </p:txBody>
      </p:sp>
      <p:sp>
        <p:nvSpPr>
          <p:cNvPr id="5" name="TextBox 4"/>
          <p:cNvSpPr txBox="1"/>
          <p:nvPr/>
        </p:nvSpPr>
        <p:spPr>
          <a:xfrm>
            <a:off x="493776" y="4572000"/>
            <a:ext cx="7223760" cy="457200"/>
          </a:xfrm>
          <a:prstGeom prst="rect">
            <a:avLst/>
          </a:prstGeom>
          <a:noFill/>
        </p:spPr>
        <p:txBody>
          <a:bodyPr wrap="square" lIns="0" rIns="0" tIns="0" bIns="0" anchor="t">
            <a:spAutoFit/>
          </a:bodyPr>
          <a:lstStyle/>
          <a:p>
            <a:pPr algn="l">
              <a:lnSpc>
                <a:spcPct val="120000"/>
              </a:lnSpc>
              <a:spcAft>
                <a:spcPts val="0"/>
              </a:spcAft>
            </a:pPr>
            <a:r>
              <a:rPr sz="1700" b="0">
                <a:solidFill>
                  <a:srgbClr val="8E9995"/>
                </a:solidFill>
              </a:rPr>
              <a:t>A memory-efficient personal AI built for Track 1: Cost of Intelligence</a:t>
            </a:r>
          </a:p>
        </p:txBody>
      </p:sp>
      <p:sp>
        <p:nvSpPr>
          <p:cNvPr id="6" name="Rounded Rectangle 5"/>
          <p:cNvSpPr/>
          <p:nvPr/>
        </p:nvSpPr>
        <p:spPr>
          <a:xfrm>
            <a:off x="493776" y="5230368"/>
            <a:ext cx="7086600" cy="731520"/>
          </a:xfrm>
          <a:prstGeom prst="roundRect">
            <a:avLst>
              <a:gd name="adj" fmla="val 4500"/>
            </a:avLst>
          </a:prstGeom>
          <a:solidFill>
            <a:srgbClr val="101313"/>
          </a:solidFill>
          <a:ln w="12700">
            <a:solidFill>
              <a:srgbClr val="2930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86384" y="5431536"/>
            <a:ext cx="1737360" cy="384048"/>
          </a:xfrm>
          <a:prstGeom prst="rect">
            <a:avLst/>
          </a:prstGeom>
          <a:noFill/>
        </p:spPr>
        <p:txBody>
          <a:bodyPr wrap="square" lIns="0" rIns="0" tIns="0" bIns="0" anchor="t">
            <a:spAutoFit/>
          </a:bodyPr>
          <a:lstStyle/>
          <a:p>
            <a:pPr algn="l">
              <a:lnSpc>
                <a:spcPct val="100000"/>
              </a:lnSpc>
              <a:spcAft>
                <a:spcPts val="0"/>
              </a:spcAft>
            </a:pPr>
            <a:r>
              <a:rPr sz="3000" b="1">
                <a:solidFill>
                  <a:srgbClr val="B7FF3C"/>
                </a:solidFill>
              </a:rPr>
              <a:t>65%</a:t>
            </a:r>
          </a:p>
        </p:txBody>
      </p:sp>
      <p:sp>
        <p:nvSpPr>
          <p:cNvPr id="8" name="TextBox 7"/>
          <p:cNvSpPr txBox="1"/>
          <p:nvPr/>
        </p:nvSpPr>
        <p:spPr>
          <a:xfrm>
            <a:off x="1920240" y="5394960"/>
            <a:ext cx="2286000" cy="457200"/>
          </a:xfrm>
          <a:prstGeom prst="rect">
            <a:avLst/>
          </a:prstGeom>
          <a:noFill/>
        </p:spPr>
        <p:txBody>
          <a:bodyPr wrap="square" lIns="0" rIns="0" tIns="0" bIns="0" anchor="t">
            <a:spAutoFit/>
          </a:bodyPr>
          <a:lstStyle/>
          <a:p>
            <a:pPr algn="l">
              <a:lnSpc>
                <a:spcPct val="130000"/>
              </a:lnSpc>
              <a:spcAft>
                <a:spcPts val="0"/>
              </a:spcAft>
            </a:pPr>
            <a:r>
              <a:rPr sz="950" b="1" spc="80">
                <a:solidFill>
                  <a:srgbClr val="8E9995"/>
                </a:solidFill>
              </a:rPr>
              <a:t>FEWER INPUT</a:t>
            </a:r>
          </a:p>
          <a:p>
            <a:pPr algn="l">
              <a:lnSpc>
                <a:spcPct val="130000"/>
              </a:lnSpc>
              <a:spcAft>
                <a:spcPts val="0"/>
              </a:spcAft>
            </a:pPr>
            <a:r>
              <a:rPr sz="950" b="1" spc="80">
                <a:solidFill>
                  <a:srgbClr val="8E9995"/>
                </a:solidFill>
              </a:rPr>
              <a:t>TOKENS PER ANSWER</a:t>
            </a:r>
          </a:p>
        </p:txBody>
      </p:sp>
      <p:sp>
        <p:nvSpPr>
          <p:cNvPr id="9" name="Rectangle 8"/>
          <p:cNvSpPr/>
          <p:nvPr/>
        </p:nvSpPr>
        <p:spPr>
          <a:xfrm>
            <a:off x="4224528" y="5431536"/>
            <a:ext cx="0" cy="329184"/>
          </a:xfrm>
          <a:prstGeom prst="rect">
            <a:avLst/>
          </a:prstGeom>
          <a:noFill/>
          <a:ln w="12700">
            <a:solidFill>
              <a:srgbClr val="2930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498848" y="5431536"/>
            <a:ext cx="1737360" cy="384048"/>
          </a:xfrm>
          <a:prstGeom prst="rect">
            <a:avLst/>
          </a:prstGeom>
          <a:noFill/>
        </p:spPr>
        <p:txBody>
          <a:bodyPr wrap="square" lIns="0" rIns="0" tIns="0" bIns="0" anchor="t">
            <a:spAutoFit/>
          </a:bodyPr>
          <a:lstStyle/>
          <a:p>
            <a:pPr algn="l">
              <a:lnSpc>
                <a:spcPct val="100000"/>
              </a:lnSpc>
              <a:spcAft>
                <a:spcPts val="0"/>
              </a:spcAft>
            </a:pPr>
            <a:r>
              <a:rPr sz="3000" b="1">
                <a:solidFill>
                  <a:srgbClr val="EDF3EC"/>
                </a:solidFill>
              </a:rPr>
              <a:t>9</a:t>
            </a:r>
          </a:p>
        </p:txBody>
      </p:sp>
      <p:sp>
        <p:nvSpPr>
          <p:cNvPr id="11" name="TextBox 10"/>
          <p:cNvSpPr txBox="1"/>
          <p:nvPr/>
        </p:nvSpPr>
        <p:spPr>
          <a:xfrm>
            <a:off x="5074920" y="5394960"/>
            <a:ext cx="2011680" cy="457200"/>
          </a:xfrm>
          <a:prstGeom prst="rect">
            <a:avLst/>
          </a:prstGeom>
          <a:noFill/>
        </p:spPr>
        <p:txBody>
          <a:bodyPr wrap="square" lIns="0" rIns="0" tIns="0" bIns="0" anchor="t">
            <a:spAutoFit/>
          </a:bodyPr>
          <a:lstStyle/>
          <a:p>
            <a:pPr algn="l">
              <a:lnSpc>
                <a:spcPct val="130000"/>
              </a:lnSpc>
              <a:spcAft>
                <a:spcPts val="0"/>
              </a:spcAft>
            </a:pPr>
            <a:r>
              <a:rPr sz="950" b="1" spc="80">
                <a:solidFill>
                  <a:srgbClr val="8E9995"/>
                </a:solidFill>
              </a:rPr>
              <a:t>MEASURED RUNS</a:t>
            </a:r>
          </a:p>
          <a:p>
            <a:pPr algn="l">
              <a:lnSpc>
                <a:spcPct val="130000"/>
              </a:lnSpc>
              <a:spcAft>
                <a:spcPts val="0"/>
              </a:spcAft>
            </a:pPr>
            <a:r>
              <a:rPr sz="950" b="1" spc="80">
                <a:solidFill>
                  <a:srgbClr val="8E9995"/>
                </a:solidFill>
              </a:rPr>
              <a:t>LOGGED TO SNOWFLAKE</a:t>
            </a:r>
          </a:p>
        </p:txBody>
      </p:sp>
      <p:sp>
        <p:nvSpPr>
          <p:cNvPr id="12" name="Rectangle 11"/>
          <p:cNvSpPr/>
          <p:nvPr/>
        </p:nvSpPr>
        <p:spPr>
          <a:xfrm>
            <a:off x="493776" y="6272784"/>
            <a:ext cx="10725912" cy="0"/>
          </a:xfrm>
          <a:prstGeom prst="rect">
            <a:avLst/>
          </a:prstGeom>
          <a:noFill/>
          <a:ln w="12700">
            <a:solidFill>
              <a:srgbClr val="293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3776" y="6419088"/>
            <a:ext cx="7315200" cy="256032"/>
          </a:xfrm>
          <a:prstGeom prst="rect">
            <a:avLst/>
          </a:prstGeom>
          <a:noFill/>
        </p:spPr>
        <p:txBody>
          <a:bodyPr wrap="square" lIns="0" rIns="0" tIns="0" bIns="0" anchor="t">
            <a:spAutoFit/>
          </a:bodyPr>
          <a:lstStyle/>
          <a:p>
            <a:pPr algn="l">
              <a:lnSpc>
                <a:spcPct val="115000"/>
              </a:lnSpc>
              <a:spcAft>
                <a:spcPts val="0"/>
              </a:spcAft>
            </a:pPr>
            <a:r>
              <a:rPr sz="950" b="1" spc="90">
                <a:solidFill>
                  <a:srgbClr val="5F6A66"/>
                </a:solidFill>
              </a:rPr>
              <a:t>LOCAL-FIRST   ·   EVEROS PERSONAL MEMORY   ·   SNOWFLAKE CONTEXT ECONOMICS</a:t>
            </a:r>
          </a:p>
        </p:txBody>
      </p:sp>
      <p:sp>
        <p:nvSpPr>
          <p:cNvPr id="14" name="Rounded Rectangle 13"/>
          <p:cNvSpPr/>
          <p:nvPr/>
        </p:nvSpPr>
        <p:spPr>
          <a:xfrm>
            <a:off x="8321040" y="1463040"/>
            <a:ext cx="2852928" cy="2852928"/>
          </a:xfrm>
          <a:prstGeom prst="roundRect">
            <a:avLst>
              <a:gd name="adj" fmla="val 4500"/>
            </a:avLst>
          </a:prstGeom>
          <a:solidFill>
            <a:srgbClr val="101313"/>
          </a:solidFill>
          <a:ln w="12700">
            <a:solidFill>
              <a:srgbClr val="2930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5" name="Picture 14" descr="image3.png"/>
          <p:cNvPicPr>
            <a:picLocks noChangeAspect="1"/>
          </p:cNvPicPr>
          <p:nvPr/>
        </p:nvPicPr>
        <p:blipFill>
          <a:blip r:embed="rId2"/>
          <a:stretch>
            <a:fillRect/>
          </a:stretch>
        </p:blipFill>
        <p:spPr>
          <a:xfrm>
            <a:off x="8577072" y="1719072"/>
            <a:ext cx="2359152" cy="235915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D0D"/>
        </a:solidFill>
        <a:effectLst/>
      </p:bgPr>
    </p:bg>
    <p:spTree>
      <p:nvGrpSpPr>
        <p:cNvPr id="1" name=""/>
        <p:cNvGrpSpPr/>
        <p:nvPr/>
      </p:nvGrpSpPr>
      <p:grpSpPr/>
      <p:sp>
        <p:nvSpPr>
          <p:cNvPr id="2" name="TextBox 1"/>
          <p:cNvSpPr txBox="1"/>
          <p:nvPr/>
        </p:nvSpPr>
        <p:spPr>
          <a:xfrm>
            <a:off x="11292840" y="6382512"/>
            <a:ext cx="548640" cy="228600"/>
          </a:xfrm>
          <a:prstGeom prst="rect">
            <a:avLst/>
          </a:prstGeom>
          <a:noFill/>
        </p:spPr>
        <p:txBody>
          <a:bodyPr wrap="square" lIns="0" rIns="0" tIns="0" bIns="0" anchor="t">
            <a:spAutoFit/>
          </a:bodyPr>
          <a:lstStyle/>
          <a:p>
            <a:pPr algn="r">
              <a:lnSpc>
                <a:spcPct val="115000"/>
              </a:lnSpc>
              <a:spcAft>
                <a:spcPts val="0"/>
              </a:spcAft>
            </a:pPr>
            <a:r>
              <a:rPr sz="1100" b="0">
                <a:solidFill>
                  <a:srgbClr val="5F6A66"/>
                </a:solidFill>
              </a:rPr>
              <a:t>02</a:t>
            </a:r>
          </a:p>
        </p:txBody>
      </p:sp>
      <p:sp>
        <p:nvSpPr>
          <p:cNvPr id="3" name="TextBox 2"/>
          <p:cNvSpPr txBox="1"/>
          <p:nvPr/>
        </p:nvSpPr>
        <p:spPr>
          <a:xfrm>
            <a:off x="493776" y="402336"/>
            <a:ext cx="7315200" cy="274320"/>
          </a:xfrm>
          <a:prstGeom prst="rect">
            <a:avLst/>
          </a:prstGeom>
          <a:noFill/>
        </p:spPr>
        <p:txBody>
          <a:bodyPr wrap="square" lIns="0" rIns="0" tIns="0" bIns="0" anchor="t">
            <a:spAutoFit/>
          </a:bodyPr>
          <a:lstStyle/>
          <a:p>
            <a:pPr algn="l">
              <a:lnSpc>
                <a:spcPct val="115000"/>
              </a:lnSpc>
              <a:spcAft>
                <a:spcPts val="0"/>
              </a:spcAft>
            </a:pPr>
            <a:r>
              <a:rPr sz="1250" b="1" spc="110">
                <a:solidFill>
                  <a:srgbClr val="B7FF3C"/>
                </a:solidFill>
              </a:rPr>
              <a:t>THE PROBLEM</a:t>
            </a:r>
          </a:p>
        </p:txBody>
      </p:sp>
      <p:sp>
        <p:nvSpPr>
          <p:cNvPr id="4" name="TextBox 3"/>
          <p:cNvSpPr txBox="1"/>
          <p:nvPr/>
        </p:nvSpPr>
        <p:spPr>
          <a:xfrm>
            <a:off x="493776" y="786384"/>
            <a:ext cx="10698480" cy="868680"/>
          </a:xfrm>
          <a:prstGeom prst="rect">
            <a:avLst/>
          </a:prstGeom>
          <a:noFill/>
        </p:spPr>
        <p:txBody>
          <a:bodyPr wrap="square" lIns="0" rIns="0" tIns="0" bIns="0" anchor="t">
            <a:spAutoFit/>
          </a:bodyPr>
          <a:lstStyle/>
          <a:p>
            <a:pPr algn="l">
              <a:lnSpc>
                <a:spcPct val="106000"/>
              </a:lnSpc>
              <a:spcAft>
                <a:spcPts val="0"/>
              </a:spcAft>
            </a:pPr>
            <a:r>
              <a:rPr sz="3400" b="1">
                <a:solidFill>
                  <a:srgbClr val="EDF3EC"/>
                </a:solidFill>
              </a:rPr>
              <a:t>Personal AI gets more expensive as it learns.</a:t>
            </a:r>
          </a:p>
        </p:txBody>
      </p:sp>
      <p:sp>
        <p:nvSpPr>
          <p:cNvPr id="5" name="TextBox 4"/>
          <p:cNvSpPr txBox="1"/>
          <p:nvPr/>
        </p:nvSpPr>
        <p:spPr>
          <a:xfrm>
            <a:off x="493776" y="1664208"/>
            <a:ext cx="10424160" cy="310896"/>
          </a:xfrm>
          <a:prstGeom prst="rect">
            <a:avLst/>
          </a:prstGeom>
          <a:noFill/>
        </p:spPr>
        <p:txBody>
          <a:bodyPr wrap="square" lIns="0" rIns="0" tIns="0" bIns="0" anchor="t">
            <a:spAutoFit/>
          </a:bodyPr>
          <a:lstStyle/>
          <a:p>
            <a:pPr algn="l">
              <a:lnSpc>
                <a:spcPct val="115000"/>
              </a:lnSpc>
              <a:spcAft>
                <a:spcPts val="0"/>
              </a:spcAft>
            </a:pPr>
            <a:r>
              <a:rPr sz="1500" b="0">
                <a:solidFill>
                  <a:srgbClr val="8E9995"/>
                </a:solidFill>
              </a:rPr>
              <a:t>The usual personalization pattern appends the profile, the history, and the whole conversation to every request.</a:t>
            </a:r>
          </a:p>
        </p:txBody>
      </p:sp>
      <p:sp>
        <p:nvSpPr>
          <p:cNvPr id="6" name="TextBox 5"/>
          <p:cNvSpPr txBox="1"/>
          <p:nvPr/>
        </p:nvSpPr>
        <p:spPr>
          <a:xfrm>
            <a:off x="493776" y="2331720"/>
            <a:ext cx="4846320" cy="329184"/>
          </a:xfrm>
          <a:prstGeom prst="rect">
            <a:avLst/>
          </a:prstGeom>
          <a:noFill/>
        </p:spPr>
        <p:txBody>
          <a:bodyPr wrap="square" lIns="0" rIns="0" tIns="0" bIns="0" anchor="t">
            <a:spAutoFit/>
          </a:bodyPr>
          <a:lstStyle/>
          <a:p>
            <a:pPr algn="l">
              <a:lnSpc>
                <a:spcPct val="115000"/>
              </a:lnSpc>
              <a:spcAft>
                <a:spcPts val="0"/>
              </a:spcAft>
            </a:pPr>
            <a:r>
              <a:rPr sz="2000" b="1" spc="60">
                <a:solidFill>
                  <a:srgbClr val="EDF3EC"/>
                </a:solidFill>
              </a:rPr>
              <a:t>FULL CONTEXT</a:t>
            </a:r>
          </a:p>
        </p:txBody>
      </p:sp>
      <p:sp>
        <p:nvSpPr>
          <p:cNvPr id="7" name="TextBox 6"/>
          <p:cNvSpPr txBox="1"/>
          <p:nvPr/>
        </p:nvSpPr>
        <p:spPr>
          <a:xfrm>
            <a:off x="493776" y="2724912"/>
            <a:ext cx="4754880" cy="310896"/>
          </a:xfrm>
          <a:prstGeom prst="rect">
            <a:avLst/>
          </a:prstGeom>
          <a:noFill/>
        </p:spPr>
        <p:txBody>
          <a:bodyPr wrap="square" lIns="0" rIns="0" tIns="0" bIns="0" anchor="t">
            <a:spAutoFit/>
          </a:bodyPr>
          <a:lstStyle/>
          <a:p>
            <a:pPr algn="l">
              <a:lnSpc>
                <a:spcPct val="115000"/>
              </a:lnSpc>
              <a:spcAft>
                <a:spcPts val="0"/>
              </a:spcAft>
            </a:pPr>
            <a:r>
              <a:rPr sz="1450" b="0">
                <a:solidFill>
                  <a:srgbClr val="8E9995"/>
                </a:solidFill>
              </a:rPr>
              <a:t>Everything it knows, re-sent every time.</a:t>
            </a:r>
          </a:p>
        </p:txBody>
      </p:sp>
      <p:sp>
        <p:nvSpPr>
          <p:cNvPr id="8" name="Rounded Rectangle 7"/>
          <p:cNvSpPr/>
          <p:nvPr/>
        </p:nvSpPr>
        <p:spPr>
          <a:xfrm>
            <a:off x="493776" y="3255264"/>
            <a:ext cx="3017520" cy="160020"/>
          </a:xfrm>
          <a:prstGeom prst="roundRect">
            <a:avLst>
              <a:gd name="adj" fmla="val 50000"/>
            </a:avLst>
          </a:prstGeom>
          <a:solidFill>
            <a:srgbClr val="252C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3675887" y="3214116"/>
            <a:ext cx="2057400" cy="237744"/>
          </a:xfrm>
          <a:prstGeom prst="rect">
            <a:avLst/>
          </a:prstGeom>
          <a:noFill/>
        </p:spPr>
        <p:txBody>
          <a:bodyPr wrap="square" lIns="0" rIns="0" tIns="0" bIns="0" anchor="t">
            <a:spAutoFit/>
          </a:bodyPr>
          <a:lstStyle/>
          <a:p>
            <a:pPr algn="l">
              <a:lnSpc>
                <a:spcPct val="115000"/>
              </a:lnSpc>
              <a:spcAft>
                <a:spcPts val="0"/>
              </a:spcAft>
            </a:pPr>
            <a:r>
              <a:rPr sz="950" b="0">
                <a:solidFill>
                  <a:srgbClr val="5F6A66"/>
                </a:solidFill>
              </a:rPr>
              <a:t>Static profile</a:t>
            </a:r>
          </a:p>
        </p:txBody>
      </p:sp>
      <p:sp>
        <p:nvSpPr>
          <p:cNvPr id="10" name="Rounded Rectangle 9"/>
          <p:cNvSpPr/>
          <p:nvPr/>
        </p:nvSpPr>
        <p:spPr>
          <a:xfrm>
            <a:off x="493776" y="3598164"/>
            <a:ext cx="2880360" cy="160020"/>
          </a:xfrm>
          <a:prstGeom prst="roundRect">
            <a:avLst>
              <a:gd name="adj" fmla="val 50000"/>
            </a:avLst>
          </a:prstGeom>
          <a:solidFill>
            <a:srgbClr val="252C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3675887" y="3557016"/>
            <a:ext cx="2057400" cy="237744"/>
          </a:xfrm>
          <a:prstGeom prst="rect">
            <a:avLst/>
          </a:prstGeom>
          <a:noFill/>
        </p:spPr>
        <p:txBody>
          <a:bodyPr wrap="square" lIns="0" rIns="0" tIns="0" bIns="0" anchor="t">
            <a:spAutoFit/>
          </a:bodyPr>
          <a:lstStyle/>
          <a:p>
            <a:pPr algn="l">
              <a:lnSpc>
                <a:spcPct val="115000"/>
              </a:lnSpc>
              <a:spcAft>
                <a:spcPts val="0"/>
              </a:spcAft>
            </a:pPr>
            <a:r>
              <a:rPr sz="950" b="0">
                <a:solidFill>
                  <a:srgbClr val="5F6A66"/>
                </a:solidFill>
              </a:rPr>
              <a:t>Full conversation history</a:t>
            </a:r>
          </a:p>
        </p:txBody>
      </p:sp>
      <p:sp>
        <p:nvSpPr>
          <p:cNvPr id="12" name="Rounded Rectangle 11"/>
          <p:cNvSpPr/>
          <p:nvPr/>
        </p:nvSpPr>
        <p:spPr>
          <a:xfrm>
            <a:off x="493776" y="3941064"/>
            <a:ext cx="2724912" cy="160020"/>
          </a:xfrm>
          <a:prstGeom prst="roundRect">
            <a:avLst>
              <a:gd name="adj" fmla="val 50000"/>
            </a:avLst>
          </a:prstGeom>
          <a:solidFill>
            <a:srgbClr val="252C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675887" y="3899916"/>
            <a:ext cx="2057400" cy="237744"/>
          </a:xfrm>
          <a:prstGeom prst="rect">
            <a:avLst/>
          </a:prstGeom>
          <a:noFill/>
        </p:spPr>
        <p:txBody>
          <a:bodyPr wrap="square" lIns="0" rIns="0" tIns="0" bIns="0" anchor="t">
            <a:spAutoFit/>
          </a:bodyPr>
          <a:lstStyle/>
          <a:p>
            <a:pPr algn="l">
              <a:lnSpc>
                <a:spcPct val="115000"/>
              </a:lnSpc>
              <a:spcAft>
                <a:spcPts val="0"/>
              </a:spcAft>
            </a:pPr>
            <a:r>
              <a:rPr sz="950" b="0">
                <a:solidFill>
                  <a:srgbClr val="5F6A66"/>
                </a:solidFill>
              </a:rPr>
              <a:t>Summarized activity</a:t>
            </a:r>
          </a:p>
        </p:txBody>
      </p:sp>
      <p:sp>
        <p:nvSpPr>
          <p:cNvPr id="14" name="Rounded Rectangle 13"/>
          <p:cNvSpPr/>
          <p:nvPr/>
        </p:nvSpPr>
        <p:spPr>
          <a:xfrm>
            <a:off x="493776" y="4283964"/>
            <a:ext cx="2560320" cy="160020"/>
          </a:xfrm>
          <a:prstGeom prst="roundRect">
            <a:avLst>
              <a:gd name="adj" fmla="val 50000"/>
            </a:avLst>
          </a:prstGeom>
          <a:solidFill>
            <a:srgbClr val="252C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675887" y="4242816"/>
            <a:ext cx="2057400" cy="237744"/>
          </a:xfrm>
          <a:prstGeom prst="rect">
            <a:avLst/>
          </a:prstGeom>
          <a:noFill/>
        </p:spPr>
        <p:txBody>
          <a:bodyPr wrap="square" lIns="0" rIns="0" tIns="0" bIns="0" anchor="t">
            <a:spAutoFit/>
          </a:bodyPr>
          <a:lstStyle/>
          <a:p>
            <a:pPr algn="l">
              <a:lnSpc>
                <a:spcPct val="115000"/>
              </a:lnSpc>
              <a:spcAft>
                <a:spcPts val="0"/>
              </a:spcAft>
            </a:pPr>
            <a:r>
              <a:rPr sz="950" b="0">
                <a:solidFill>
                  <a:srgbClr val="5F6A66"/>
                </a:solidFill>
              </a:rPr>
              <a:t>Every stored memory</a:t>
            </a:r>
          </a:p>
        </p:txBody>
      </p:sp>
      <p:sp>
        <p:nvSpPr>
          <p:cNvPr id="16" name="Rounded Rectangle 15"/>
          <p:cNvSpPr/>
          <p:nvPr/>
        </p:nvSpPr>
        <p:spPr>
          <a:xfrm>
            <a:off x="493776" y="4626864"/>
            <a:ext cx="2368296" cy="160020"/>
          </a:xfrm>
          <a:prstGeom prst="roundRect">
            <a:avLst>
              <a:gd name="adj" fmla="val 50000"/>
            </a:avLst>
          </a:prstGeom>
          <a:solidFill>
            <a:srgbClr val="252C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675887" y="4585716"/>
            <a:ext cx="2057400" cy="237744"/>
          </a:xfrm>
          <a:prstGeom prst="rect">
            <a:avLst/>
          </a:prstGeom>
          <a:noFill/>
        </p:spPr>
        <p:txBody>
          <a:bodyPr wrap="square" lIns="0" rIns="0" tIns="0" bIns="0" anchor="t">
            <a:spAutoFit/>
          </a:bodyPr>
          <a:lstStyle/>
          <a:p>
            <a:pPr algn="l">
              <a:lnSpc>
                <a:spcPct val="115000"/>
              </a:lnSpc>
              <a:spcAft>
                <a:spcPts val="0"/>
              </a:spcAft>
            </a:pPr>
            <a:r>
              <a:rPr sz="950" b="0">
                <a:solidFill>
                  <a:srgbClr val="5F6A66"/>
                </a:solidFill>
              </a:rPr>
              <a:t>Prior corrections</a:t>
            </a:r>
          </a:p>
        </p:txBody>
      </p:sp>
      <p:sp>
        <p:nvSpPr>
          <p:cNvPr id="18" name="Rounded Rectangle 17"/>
          <p:cNvSpPr/>
          <p:nvPr/>
        </p:nvSpPr>
        <p:spPr>
          <a:xfrm>
            <a:off x="493776" y="4969764"/>
            <a:ext cx="2157984" cy="160020"/>
          </a:xfrm>
          <a:prstGeom prst="roundRect">
            <a:avLst>
              <a:gd name="adj" fmla="val 50000"/>
            </a:avLst>
          </a:prstGeom>
          <a:solidFill>
            <a:srgbClr val="252C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675887" y="4928616"/>
            <a:ext cx="2057400" cy="237744"/>
          </a:xfrm>
          <a:prstGeom prst="rect">
            <a:avLst/>
          </a:prstGeom>
          <a:noFill/>
        </p:spPr>
        <p:txBody>
          <a:bodyPr wrap="square" lIns="0" rIns="0" tIns="0" bIns="0" anchor="t">
            <a:spAutoFit/>
          </a:bodyPr>
          <a:lstStyle/>
          <a:p>
            <a:pPr algn="l">
              <a:lnSpc>
                <a:spcPct val="115000"/>
              </a:lnSpc>
              <a:spcAft>
                <a:spcPts val="0"/>
              </a:spcAft>
            </a:pPr>
            <a:r>
              <a:rPr sz="950" b="0">
                <a:solidFill>
                  <a:srgbClr val="5F6A66"/>
                </a:solidFill>
              </a:rPr>
              <a:t>Thread packet</a:t>
            </a:r>
          </a:p>
        </p:txBody>
      </p:sp>
      <p:sp>
        <p:nvSpPr>
          <p:cNvPr id="20" name="Rounded Rectangle 19"/>
          <p:cNvSpPr/>
          <p:nvPr/>
        </p:nvSpPr>
        <p:spPr>
          <a:xfrm>
            <a:off x="493776" y="5312664"/>
            <a:ext cx="1911095" cy="160020"/>
          </a:xfrm>
          <a:prstGeom prst="roundRect">
            <a:avLst>
              <a:gd name="adj" fmla="val 50000"/>
            </a:avLst>
          </a:prstGeom>
          <a:solidFill>
            <a:srgbClr val="252C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675887" y="5271516"/>
            <a:ext cx="2057400" cy="237744"/>
          </a:xfrm>
          <a:prstGeom prst="rect">
            <a:avLst/>
          </a:prstGeom>
          <a:noFill/>
        </p:spPr>
        <p:txBody>
          <a:bodyPr wrap="square" lIns="0" rIns="0" tIns="0" bIns="0" anchor="t">
            <a:spAutoFit/>
          </a:bodyPr>
          <a:lstStyle/>
          <a:p>
            <a:pPr algn="l">
              <a:lnSpc>
                <a:spcPct val="115000"/>
              </a:lnSpc>
              <a:spcAft>
                <a:spcPts val="0"/>
              </a:spcAft>
            </a:pPr>
            <a:r>
              <a:rPr sz="950" b="0">
                <a:solidFill>
                  <a:srgbClr val="5F6A66"/>
                </a:solidFill>
              </a:rPr>
              <a:t>This question</a:t>
            </a:r>
          </a:p>
        </p:txBody>
      </p:sp>
      <p:sp>
        <p:nvSpPr>
          <p:cNvPr id="22" name="TextBox 21"/>
          <p:cNvSpPr txBox="1"/>
          <p:nvPr/>
        </p:nvSpPr>
        <p:spPr>
          <a:xfrm>
            <a:off x="493776" y="5687568"/>
            <a:ext cx="4846320" cy="274320"/>
          </a:xfrm>
          <a:prstGeom prst="rect">
            <a:avLst/>
          </a:prstGeom>
          <a:noFill/>
        </p:spPr>
        <p:txBody>
          <a:bodyPr wrap="square" lIns="0" rIns="0" tIns="0" bIns="0" anchor="t">
            <a:spAutoFit/>
          </a:bodyPr>
          <a:lstStyle/>
          <a:p>
            <a:pPr algn="l">
              <a:lnSpc>
                <a:spcPct val="115000"/>
              </a:lnSpc>
              <a:spcAft>
                <a:spcPts val="0"/>
              </a:spcAft>
            </a:pPr>
            <a:r>
              <a:rPr sz="1000" b="1" spc="90">
                <a:solidFill>
                  <a:srgbClr val="8E9995"/>
                </a:solidFill>
              </a:rPr>
              <a:t>COST SCALES WITH THE RELATIONSHIP</a:t>
            </a:r>
          </a:p>
        </p:txBody>
      </p:sp>
      <p:sp>
        <p:nvSpPr>
          <p:cNvPr id="23" name="Rectangle 22"/>
          <p:cNvSpPr/>
          <p:nvPr/>
        </p:nvSpPr>
        <p:spPr>
          <a:xfrm>
            <a:off x="5870448" y="2286000"/>
            <a:ext cx="0" cy="3611880"/>
          </a:xfrm>
          <a:prstGeom prst="rect">
            <a:avLst/>
          </a:prstGeom>
          <a:noFill/>
          <a:ln w="12700">
            <a:solidFill>
              <a:srgbClr val="2930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327648" y="2331720"/>
            <a:ext cx="4846320" cy="329184"/>
          </a:xfrm>
          <a:prstGeom prst="rect">
            <a:avLst/>
          </a:prstGeom>
          <a:noFill/>
        </p:spPr>
        <p:txBody>
          <a:bodyPr wrap="square" lIns="0" rIns="0" tIns="0" bIns="0" anchor="t">
            <a:spAutoFit/>
          </a:bodyPr>
          <a:lstStyle/>
          <a:p>
            <a:pPr algn="l">
              <a:lnSpc>
                <a:spcPct val="115000"/>
              </a:lnSpc>
              <a:spcAft>
                <a:spcPts val="0"/>
              </a:spcAft>
            </a:pPr>
            <a:r>
              <a:rPr sz="2000" b="1" spc="60">
                <a:solidFill>
                  <a:srgbClr val="B7FF3C"/>
                </a:solidFill>
              </a:rPr>
              <a:t>KNOWU CONTEXT</a:t>
            </a:r>
          </a:p>
        </p:txBody>
      </p:sp>
      <p:sp>
        <p:nvSpPr>
          <p:cNvPr id="25" name="TextBox 24"/>
          <p:cNvSpPr txBox="1"/>
          <p:nvPr/>
        </p:nvSpPr>
        <p:spPr>
          <a:xfrm>
            <a:off x="6327648" y="2724912"/>
            <a:ext cx="4846320" cy="310896"/>
          </a:xfrm>
          <a:prstGeom prst="rect">
            <a:avLst/>
          </a:prstGeom>
          <a:noFill/>
        </p:spPr>
        <p:txBody>
          <a:bodyPr wrap="square" lIns="0" rIns="0" tIns="0" bIns="0" anchor="t">
            <a:spAutoFit/>
          </a:bodyPr>
          <a:lstStyle/>
          <a:p>
            <a:pPr algn="l">
              <a:lnSpc>
                <a:spcPct val="115000"/>
              </a:lnSpc>
              <a:spcAft>
                <a:spcPts val="0"/>
              </a:spcAft>
            </a:pPr>
            <a:r>
              <a:rPr sz="1450" b="0">
                <a:solidFill>
                  <a:srgbClr val="8E9995"/>
                </a:solidFill>
              </a:rPr>
              <a:t>Only what this question actually needs.</a:t>
            </a:r>
          </a:p>
        </p:txBody>
      </p:sp>
      <p:sp>
        <p:nvSpPr>
          <p:cNvPr id="26" name="TextBox 25"/>
          <p:cNvSpPr txBox="1"/>
          <p:nvPr/>
        </p:nvSpPr>
        <p:spPr>
          <a:xfrm>
            <a:off x="6327648" y="3182112"/>
            <a:ext cx="4206240" cy="256032"/>
          </a:xfrm>
          <a:prstGeom prst="rect">
            <a:avLst/>
          </a:prstGeom>
          <a:noFill/>
        </p:spPr>
        <p:txBody>
          <a:bodyPr wrap="square" lIns="0" rIns="0" tIns="0" bIns="0" anchor="t">
            <a:spAutoFit/>
          </a:bodyPr>
          <a:lstStyle/>
          <a:p>
            <a:pPr algn="l">
              <a:lnSpc>
                <a:spcPct val="115000"/>
              </a:lnSpc>
              <a:spcAft>
                <a:spcPts val="0"/>
              </a:spcAft>
            </a:pPr>
            <a:r>
              <a:rPr sz="1400" b="1">
                <a:solidFill>
                  <a:srgbClr val="EDF3EC"/>
                </a:solidFill>
              </a:rPr>
              <a:t>Relevant memories</a:t>
            </a:r>
          </a:p>
        </p:txBody>
      </p:sp>
      <p:sp>
        <p:nvSpPr>
          <p:cNvPr id="27" name="Rounded Rectangle 26"/>
          <p:cNvSpPr/>
          <p:nvPr/>
        </p:nvSpPr>
        <p:spPr>
          <a:xfrm>
            <a:off x="6327648" y="3493008"/>
            <a:ext cx="3566160" cy="160020"/>
          </a:xfrm>
          <a:prstGeom prst="roundRect">
            <a:avLst>
              <a:gd name="adj" fmla="val 50000"/>
            </a:avLst>
          </a:prstGeom>
          <a:solidFill>
            <a:srgbClr val="B7FF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327648" y="3694176"/>
            <a:ext cx="4754880" cy="237744"/>
          </a:xfrm>
          <a:prstGeom prst="rect">
            <a:avLst/>
          </a:prstGeom>
          <a:noFill/>
        </p:spPr>
        <p:txBody>
          <a:bodyPr wrap="square" lIns="0" rIns="0" tIns="0" bIns="0" anchor="t">
            <a:spAutoFit/>
          </a:bodyPr>
          <a:lstStyle/>
          <a:p>
            <a:pPr algn="l">
              <a:lnSpc>
                <a:spcPct val="115000"/>
              </a:lnSpc>
              <a:spcAft>
                <a:spcPts val="0"/>
              </a:spcAft>
            </a:pPr>
            <a:r>
              <a:rPr sz="950" b="0">
                <a:solidFill>
                  <a:srgbClr val="5F6A66"/>
                </a:solidFill>
              </a:rPr>
              <a:t>retrieved from EverOS for this query</a:t>
            </a:r>
          </a:p>
        </p:txBody>
      </p:sp>
      <p:sp>
        <p:nvSpPr>
          <p:cNvPr id="29" name="TextBox 28"/>
          <p:cNvSpPr txBox="1"/>
          <p:nvPr/>
        </p:nvSpPr>
        <p:spPr>
          <a:xfrm>
            <a:off x="6327648" y="3986784"/>
            <a:ext cx="4206240" cy="256032"/>
          </a:xfrm>
          <a:prstGeom prst="rect">
            <a:avLst/>
          </a:prstGeom>
          <a:noFill/>
        </p:spPr>
        <p:txBody>
          <a:bodyPr wrap="square" lIns="0" rIns="0" tIns="0" bIns="0" anchor="t">
            <a:spAutoFit/>
          </a:bodyPr>
          <a:lstStyle/>
          <a:p>
            <a:pPr algn="l">
              <a:lnSpc>
                <a:spcPct val="115000"/>
              </a:lnSpc>
              <a:spcAft>
                <a:spcPts val="0"/>
              </a:spcAft>
            </a:pPr>
            <a:r>
              <a:rPr sz="1400" b="1">
                <a:solidFill>
                  <a:srgbClr val="EDF3EC"/>
                </a:solidFill>
              </a:rPr>
              <a:t>Query-specific facts</a:t>
            </a:r>
          </a:p>
        </p:txBody>
      </p:sp>
      <p:sp>
        <p:nvSpPr>
          <p:cNvPr id="30" name="Rounded Rectangle 29"/>
          <p:cNvSpPr/>
          <p:nvPr/>
        </p:nvSpPr>
        <p:spPr>
          <a:xfrm>
            <a:off x="6327648" y="4297680"/>
            <a:ext cx="2697480" cy="160020"/>
          </a:xfrm>
          <a:prstGeom prst="roundRect">
            <a:avLst>
              <a:gd name="adj" fmla="val 50000"/>
            </a:avLst>
          </a:prstGeom>
          <a:solidFill>
            <a:srgbClr val="B7FF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327648" y="4498848"/>
            <a:ext cx="4754880" cy="237744"/>
          </a:xfrm>
          <a:prstGeom prst="rect">
            <a:avLst/>
          </a:prstGeom>
          <a:noFill/>
        </p:spPr>
        <p:txBody>
          <a:bodyPr wrap="square" lIns="0" rIns="0" tIns="0" bIns="0" anchor="t">
            <a:spAutoFit/>
          </a:bodyPr>
          <a:lstStyle/>
          <a:p>
            <a:pPr algn="l">
              <a:lnSpc>
                <a:spcPct val="115000"/>
              </a:lnSpc>
              <a:spcAft>
                <a:spcPts val="0"/>
              </a:spcAft>
            </a:pPr>
            <a:r>
              <a:rPr sz="950" b="0">
                <a:solidFill>
                  <a:srgbClr val="5F6A66"/>
                </a:solidFill>
              </a:rPr>
              <a:t>compact local aggregates</a:t>
            </a:r>
          </a:p>
        </p:txBody>
      </p:sp>
      <p:sp>
        <p:nvSpPr>
          <p:cNvPr id="32" name="TextBox 31"/>
          <p:cNvSpPr txBox="1"/>
          <p:nvPr/>
        </p:nvSpPr>
        <p:spPr>
          <a:xfrm>
            <a:off x="6327648" y="4791456"/>
            <a:ext cx="4206240" cy="256032"/>
          </a:xfrm>
          <a:prstGeom prst="rect">
            <a:avLst/>
          </a:prstGeom>
          <a:noFill/>
        </p:spPr>
        <p:txBody>
          <a:bodyPr wrap="square" lIns="0" rIns="0" tIns="0" bIns="0" anchor="t">
            <a:spAutoFit/>
          </a:bodyPr>
          <a:lstStyle/>
          <a:p>
            <a:pPr algn="l">
              <a:lnSpc>
                <a:spcPct val="115000"/>
              </a:lnSpc>
              <a:spcAft>
                <a:spcPts val="0"/>
              </a:spcAft>
            </a:pPr>
            <a:r>
              <a:rPr sz="1400" b="1">
                <a:solidFill>
                  <a:srgbClr val="EDF3EC"/>
                </a:solidFill>
              </a:rPr>
              <a:t>Selected-thread evidence</a:t>
            </a:r>
          </a:p>
        </p:txBody>
      </p:sp>
      <p:sp>
        <p:nvSpPr>
          <p:cNvPr id="33" name="Rounded Rectangle 32"/>
          <p:cNvSpPr/>
          <p:nvPr/>
        </p:nvSpPr>
        <p:spPr>
          <a:xfrm>
            <a:off x="6327648" y="5102352"/>
            <a:ext cx="3977639" cy="160020"/>
          </a:xfrm>
          <a:prstGeom prst="roundRect">
            <a:avLst>
              <a:gd name="adj" fmla="val 50000"/>
            </a:avLst>
          </a:prstGeom>
          <a:solidFill>
            <a:srgbClr val="65CD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327648" y="5303520"/>
            <a:ext cx="4754880" cy="237744"/>
          </a:xfrm>
          <a:prstGeom prst="rect">
            <a:avLst/>
          </a:prstGeom>
          <a:noFill/>
        </p:spPr>
        <p:txBody>
          <a:bodyPr wrap="square" lIns="0" rIns="0" tIns="0" bIns="0" anchor="t">
            <a:spAutoFit/>
          </a:bodyPr>
          <a:lstStyle/>
          <a:p>
            <a:pPr algn="l">
              <a:lnSpc>
                <a:spcPct val="115000"/>
              </a:lnSpc>
              <a:spcAft>
                <a:spcPts val="0"/>
              </a:spcAft>
            </a:pPr>
            <a:r>
              <a:rPr sz="950" b="0">
                <a:solidFill>
                  <a:srgbClr val="5F6A66"/>
                </a:solidFill>
              </a:rPr>
              <a:t>as much as the token budget allows</a:t>
            </a:r>
          </a:p>
        </p:txBody>
      </p:sp>
      <p:sp>
        <p:nvSpPr>
          <p:cNvPr id="35" name="TextBox 34"/>
          <p:cNvSpPr txBox="1"/>
          <p:nvPr/>
        </p:nvSpPr>
        <p:spPr>
          <a:xfrm>
            <a:off x="6327648" y="5687568"/>
            <a:ext cx="4846320" cy="274320"/>
          </a:xfrm>
          <a:prstGeom prst="rect">
            <a:avLst/>
          </a:prstGeom>
          <a:noFill/>
        </p:spPr>
        <p:txBody>
          <a:bodyPr wrap="square" lIns="0" rIns="0" tIns="0" bIns="0" anchor="t">
            <a:spAutoFit/>
          </a:bodyPr>
          <a:lstStyle/>
          <a:p>
            <a:pPr algn="l">
              <a:lnSpc>
                <a:spcPct val="115000"/>
              </a:lnSpc>
              <a:spcAft>
                <a:spcPts val="0"/>
              </a:spcAft>
            </a:pPr>
            <a:r>
              <a:rPr sz="1000" b="1" spc="90">
                <a:solidFill>
                  <a:srgbClr val="B7FF3C"/>
                </a:solidFill>
              </a:rPr>
              <a:t>COST SCALES WITH THE QUESTION</a:t>
            </a:r>
          </a:p>
        </p:txBody>
      </p:sp>
      <p:sp>
        <p:nvSpPr>
          <p:cNvPr id="36" name="Rounded Rectangle 35"/>
          <p:cNvSpPr/>
          <p:nvPr/>
        </p:nvSpPr>
        <p:spPr>
          <a:xfrm>
            <a:off x="493776" y="6016752"/>
            <a:ext cx="10725912" cy="676656"/>
          </a:xfrm>
          <a:prstGeom prst="roundRect">
            <a:avLst>
              <a:gd name="adj" fmla="val 4500"/>
            </a:avLst>
          </a:prstGeom>
          <a:solidFill>
            <a:srgbClr val="101313"/>
          </a:solidFill>
          <a:ln w="12700">
            <a:solidFill>
              <a:srgbClr val="2930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731520" y="6144768"/>
            <a:ext cx="10332720" cy="438912"/>
          </a:xfrm>
          <a:prstGeom prst="rect">
            <a:avLst/>
          </a:prstGeom>
          <a:noFill/>
        </p:spPr>
        <p:txBody>
          <a:bodyPr wrap="square" lIns="0" rIns="0" tIns="0" bIns="0" anchor="t">
            <a:spAutoFit/>
          </a:bodyPr>
          <a:lstStyle/>
          <a:p>
            <a:pPr algn="l">
              <a:lnSpc>
                <a:spcPct val="115000"/>
              </a:lnSpc>
              <a:spcAft>
                <a:spcPts val="0"/>
              </a:spcAft>
            </a:pPr>
            <a:r>
              <a:rPr sz="1250" b="1">
                <a:solidFill>
                  <a:srgbClr val="8E9995"/>
                </a:solidFill>
              </a:rPr>
              <a:t>Measured in KnowU: </a:t>
            </a:r>
            <a:r>
              <a:rPr sz="1250" b="0">
                <a:solidFill>
                  <a:srgbClr val="8E9995"/>
                </a:solidFill>
              </a:rPr>
              <a:t>as this user's memory grew from 5 to 8 facts, the full-context prompt grew 1,173 → 2,566 tokens. The answer path never followed it up.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D0D"/>
        </a:solidFill>
        <a:effectLst/>
      </p:bgPr>
    </p:bg>
    <p:spTree>
      <p:nvGrpSpPr>
        <p:cNvPr id="1" name=""/>
        <p:cNvGrpSpPr/>
        <p:nvPr/>
      </p:nvGrpSpPr>
      <p:grpSpPr/>
      <p:sp>
        <p:nvSpPr>
          <p:cNvPr id="2" name="TextBox 1"/>
          <p:cNvSpPr txBox="1"/>
          <p:nvPr/>
        </p:nvSpPr>
        <p:spPr>
          <a:xfrm>
            <a:off x="11292840" y="6382512"/>
            <a:ext cx="548640" cy="228600"/>
          </a:xfrm>
          <a:prstGeom prst="rect">
            <a:avLst/>
          </a:prstGeom>
          <a:noFill/>
        </p:spPr>
        <p:txBody>
          <a:bodyPr wrap="square" lIns="0" rIns="0" tIns="0" bIns="0" anchor="t">
            <a:spAutoFit/>
          </a:bodyPr>
          <a:lstStyle/>
          <a:p>
            <a:pPr algn="r">
              <a:lnSpc>
                <a:spcPct val="115000"/>
              </a:lnSpc>
              <a:spcAft>
                <a:spcPts val="0"/>
              </a:spcAft>
            </a:pPr>
            <a:r>
              <a:rPr sz="1100" b="0">
                <a:solidFill>
                  <a:srgbClr val="5F6A66"/>
                </a:solidFill>
              </a:rPr>
              <a:t>03</a:t>
            </a:r>
          </a:p>
        </p:txBody>
      </p:sp>
      <p:sp>
        <p:nvSpPr>
          <p:cNvPr id="3" name="TextBox 2"/>
          <p:cNvSpPr txBox="1"/>
          <p:nvPr/>
        </p:nvSpPr>
        <p:spPr>
          <a:xfrm>
            <a:off x="493776" y="402336"/>
            <a:ext cx="7315200" cy="274320"/>
          </a:xfrm>
          <a:prstGeom prst="rect">
            <a:avLst/>
          </a:prstGeom>
          <a:noFill/>
        </p:spPr>
        <p:txBody>
          <a:bodyPr wrap="square" lIns="0" rIns="0" tIns="0" bIns="0" anchor="t">
            <a:spAutoFit/>
          </a:bodyPr>
          <a:lstStyle/>
          <a:p>
            <a:pPr algn="l">
              <a:lnSpc>
                <a:spcPct val="115000"/>
              </a:lnSpc>
              <a:spcAft>
                <a:spcPts val="0"/>
              </a:spcAft>
            </a:pPr>
            <a:r>
              <a:rPr sz="1250" b="1" spc="110">
                <a:solidFill>
                  <a:srgbClr val="B7FF3C"/>
                </a:solidFill>
              </a:rPr>
              <a:t>HOW IT WORKS</a:t>
            </a:r>
          </a:p>
        </p:txBody>
      </p:sp>
      <p:sp>
        <p:nvSpPr>
          <p:cNvPr id="4" name="TextBox 3"/>
          <p:cNvSpPr txBox="1"/>
          <p:nvPr/>
        </p:nvSpPr>
        <p:spPr>
          <a:xfrm>
            <a:off x="493776" y="786384"/>
            <a:ext cx="10698480" cy="868680"/>
          </a:xfrm>
          <a:prstGeom prst="rect">
            <a:avLst/>
          </a:prstGeom>
          <a:noFill/>
        </p:spPr>
        <p:txBody>
          <a:bodyPr wrap="square" lIns="0" rIns="0" tIns="0" bIns="0" anchor="t">
            <a:spAutoFit/>
          </a:bodyPr>
          <a:lstStyle/>
          <a:p>
            <a:pPr algn="l">
              <a:lnSpc>
                <a:spcPct val="106000"/>
              </a:lnSpc>
              <a:spcAft>
                <a:spcPts val="0"/>
              </a:spcAft>
            </a:pPr>
            <a:r>
              <a:rPr sz="3400" b="1">
                <a:solidFill>
                  <a:srgbClr val="EDF3EC"/>
                </a:solidFill>
              </a:rPr>
              <a:t>KnowU keeps context useful — and bounded.</a:t>
            </a:r>
          </a:p>
        </p:txBody>
      </p:sp>
      <p:sp>
        <p:nvSpPr>
          <p:cNvPr id="5" name="Rounded Rectangle 4"/>
          <p:cNvSpPr/>
          <p:nvPr/>
        </p:nvSpPr>
        <p:spPr>
          <a:xfrm>
            <a:off x="493776" y="1783080"/>
            <a:ext cx="3529584" cy="3401568"/>
          </a:xfrm>
          <a:prstGeom prst="roundRect">
            <a:avLst>
              <a:gd name="adj" fmla="val 4500"/>
            </a:avLst>
          </a:prstGeom>
          <a:solidFill>
            <a:srgbClr val="141818"/>
          </a:solidFill>
          <a:ln w="12700">
            <a:solidFill>
              <a:srgbClr val="2930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68096" y="2029968"/>
            <a:ext cx="822960" cy="457200"/>
          </a:xfrm>
          <a:prstGeom prst="rect">
            <a:avLst/>
          </a:prstGeom>
          <a:noFill/>
        </p:spPr>
        <p:txBody>
          <a:bodyPr wrap="square" lIns="0" rIns="0" tIns="0" bIns="0" anchor="t">
            <a:spAutoFit/>
          </a:bodyPr>
          <a:lstStyle/>
          <a:p>
            <a:pPr algn="l">
              <a:lnSpc>
                <a:spcPct val="100000"/>
              </a:lnSpc>
              <a:spcAft>
                <a:spcPts val="0"/>
              </a:spcAft>
            </a:pPr>
            <a:r>
              <a:rPr sz="2600" b="1">
                <a:solidFill>
                  <a:srgbClr val="B7FF3C"/>
                </a:solidFill>
              </a:rPr>
              <a:t>01</a:t>
            </a:r>
          </a:p>
        </p:txBody>
      </p:sp>
      <p:sp>
        <p:nvSpPr>
          <p:cNvPr id="7" name="TextBox 6"/>
          <p:cNvSpPr txBox="1"/>
          <p:nvPr/>
        </p:nvSpPr>
        <p:spPr>
          <a:xfrm>
            <a:off x="768096" y="2615184"/>
            <a:ext cx="2377440" cy="256032"/>
          </a:xfrm>
          <a:prstGeom prst="rect">
            <a:avLst/>
          </a:prstGeom>
          <a:noFill/>
        </p:spPr>
        <p:txBody>
          <a:bodyPr wrap="square" lIns="0" rIns="0" tIns="0" bIns="0" anchor="t">
            <a:spAutoFit/>
          </a:bodyPr>
          <a:lstStyle/>
          <a:p>
            <a:pPr algn="l">
              <a:lnSpc>
                <a:spcPct val="115000"/>
              </a:lnSpc>
              <a:spcAft>
                <a:spcPts val="0"/>
              </a:spcAft>
            </a:pPr>
            <a:r>
              <a:rPr sz="1200" b="1" spc="110">
                <a:solidFill>
                  <a:srgbClr val="B7FF3C"/>
                </a:solidFill>
              </a:rPr>
              <a:t>OBSERVE</a:t>
            </a:r>
          </a:p>
        </p:txBody>
      </p:sp>
      <p:sp>
        <p:nvSpPr>
          <p:cNvPr id="8" name="TextBox 7"/>
          <p:cNvSpPr txBox="1"/>
          <p:nvPr/>
        </p:nvSpPr>
        <p:spPr>
          <a:xfrm>
            <a:off x="768096" y="2962656"/>
            <a:ext cx="3017520" cy="411480"/>
          </a:xfrm>
          <a:prstGeom prst="rect">
            <a:avLst/>
          </a:prstGeom>
          <a:noFill/>
        </p:spPr>
        <p:txBody>
          <a:bodyPr wrap="square" lIns="0" rIns="0" tIns="0" bIns="0" anchor="t">
            <a:spAutoFit/>
          </a:bodyPr>
          <a:lstStyle/>
          <a:p>
            <a:pPr algn="l">
              <a:lnSpc>
                <a:spcPct val="105000"/>
              </a:lnSpc>
              <a:spcAft>
                <a:spcPts val="0"/>
              </a:spcAft>
            </a:pPr>
            <a:r>
              <a:rPr sz="2100" b="1">
                <a:solidFill>
                  <a:srgbClr val="EDF3EC"/>
                </a:solidFill>
              </a:rPr>
              <a:t>Local signals</a:t>
            </a:r>
          </a:p>
        </p:txBody>
      </p:sp>
      <p:sp>
        <p:nvSpPr>
          <p:cNvPr id="9" name="TextBox 8"/>
          <p:cNvSpPr txBox="1"/>
          <p:nvPr/>
        </p:nvSpPr>
        <p:spPr>
          <a:xfrm>
            <a:off x="768096" y="3566160"/>
            <a:ext cx="2999232" cy="1417320"/>
          </a:xfrm>
          <a:prstGeom prst="rect">
            <a:avLst/>
          </a:prstGeom>
          <a:noFill/>
        </p:spPr>
        <p:txBody>
          <a:bodyPr wrap="square" lIns="0" rIns="0" tIns="0" bIns="0" anchor="t">
            <a:spAutoFit/>
          </a:bodyPr>
          <a:lstStyle/>
          <a:p>
            <a:pPr algn="l">
              <a:lnSpc>
                <a:spcPct val="128000"/>
              </a:lnSpc>
              <a:spcAft>
                <a:spcPts val="0"/>
              </a:spcAft>
            </a:pPr>
            <a:r>
              <a:rPr sz="1300" b="0">
                <a:solidFill>
                  <a:srgbClr val="8E9995"/>
                </a:solidFill>
              </a:rPr>
              <a:t>Raw activity stays on the Mac. Apps, permitted titles, browser history, and editor saves become visible work threads.</a:t>
            </a:r>
          </a:p>
        </p:txBody>
      </p:sp>
      <p:sp>
        <p:nvSpPr>
          <p:cNvPr id="10" name="Rounded Rectangle 9"/>
          <p:cNvSpPr/>
          <p:nvPr/>
        </p:nvSpPr>
        <p:spPr>
          <a:xfrm>
            <a:off x="4233672" y="1783080"/>
            <a:ext cx="3529584" cy="3401568"/>
          </a:xfrm>
          <a:prstGeom prst="roundRect">
            <a:avLst>
              <a:gd name="adj" fmla="val 4500"/>
            </a:avLst>
          </a:prstGeom>
          <a:solidFill>
            <a:srgbClr val="141818"/>
          </a:solidFill>
          <a:ln w="12700">
            <a:solidFill>
              <a:srgbClr val="2930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507992" y="2029968"/>
            <a:ext cx="822960" cy="457200"/>
          </a:xfrm>
          <a:prstGeom prst="rect">
            <a:avLst/>
          </a:prstGeom>
          <a:noFill/>
        </p:spPr>
        <p:txBody>
          <a:bodyPr wrap="square" lIns="0" rIns="0" tIns="0" bIns="0" anchor="t">
            <a:spAutoFit/>
          </a:bodyPr>
          <a:lstStyle/>
          <a:p>
            <a:pPr algn="l">
              <a:lnSpc>
                <a:spcPct val="100000"/>
              </a:lnSpc>
              <a:spcAft>
                <a:spcPts val="0"/>
              </a:spcAft>
            </a:pPr>
            <a:r>
              <a:rPr sz="2600" b="1">
                <a:solidFill>
                  <a:srgbClr val="B7FF3C"/>
                </a:solidFill>
              </a:rPr>
              <a:t>02</a:t>
            </a:r>
          </a:p>
        </p:txBody>
      </p:sp>
      <p:sp>
        <p:nvSpPr>
          <p:cNvPr id="12" name="TextBox 11"/>
          <p:cNvSpPr txBox="1"/>
          <p:nvPr/>
        </p:nvSpPr>
        <p:spPr>
          <a:xfrm>
            <a:off x="4507992" y="2615184"/>
            <a:ext cx="2377440" cy="256032"/>
          </a:xfrm>
          <a:prstGeom prst="rect">
            <a:avLst/>
          </a:prstGeom>
          <a:noFill/>
        </p:spPr>
        <p:txBody>
          <a:bodyPr wrap="square" lIns="0" rIns="0" tIns="0" bIns="0" anchor="t">
            <a:spAutoFit/>
          </a:bodyPr>
          <a:lstStyle/>
          <a:p>
            <a:pPr algn="l">
              <a:lnSpc>
                <a:spcPct val="115000"/>
              </a:lnSpc>
              <a:spcAft>
                <a:spcPts val="0"/>
              </a:spcAft>
            </a:pPr>
            <a:r>
              <a:rPr sz="1200" b="1" spc="110">
                <a:solidFill>
                  <a:srgbClr val="B7FF3C"/>
                </a:solidFill>
              </a:rPr>
              <a:t>RETRIEVE</a:t>
            </a:r>
          </a:p>
        </p:txBody>
      </p:sp>
      <p:sp>
        <p:nvSpPr>
          <p:cNvPr id="13" name="TextBox 12"/>
          <p:cNvSpPr txBox="1"/>
          <p:nvPr/>
        </p:nvSpPr>
        <p:spPr>
          <a:xfrm>
            <a:off x="4507992" y="2962656"/>
            <a:ext cx="3017520" cy="411480"/>
          </a:xfrm>
          <a:prstGeom prst="rect">
            <a:avLst/>
          </a:prstGeom>
          <a:noFill/>
        </p:spPr>
        <p:txBody>
          <a:bodyPr wrap="square" lIns="0" rIns="0" tIns="0" bIns="0" anchor="t">
            <a:spAutoFit/>
          </a:bodyPr>
          <a:lstStyle/>
          <a:p>
            <a:pPr algn="l">
              <a:lnSpc>
                <a:spcPct val="105000"/>
              </a:lnSpc>
              <a:spcAft>
                <a:spcPts val="0"/>
              </a:spcAft>
            </a:pPr>
            <a:r>
              <a:rPr sz="2100" b="1">
                <a:solidFill>
                  <a:srgbClr val="EDF3EC"/>
                </a:solidFill>
              </a:rPr>
              <a:t>EverOS memory</a:t>
            </a:r>
          </a:p>
        </p:txBody>
      </p:sp>
      <p:sp>
        <p:nvSpPr>
          <p:cNvPr id="14" name="TextBox 13"/>
          <p:cNvSpPr txBox="1"/>
          <p:nvPr/>
        </p:nvSpPr>
        <p:spPr>
          <a:xfrm>
            <a:off x="4507992" y="3566160"/>
            <a:ext cx="2999232" cy="1417320"/>
          </a:xfrm>
          <a:prstGeom prst="rect">
            <a:avLst/>
          </a:prstGeom>
          <a:noFill/>
        </p:spPr>
        <p:txBody>
          <a:bodyPr wrap="square" lIns="0" rIns="0" tIns="0" bIns="0" anchor="t">
            <a:spAutoFit/>
          </a:bodyPr>
          <a:lstStyle/>
          <a:p>
            <a:pPr algn="l">
              <a:lnSpc>
                <a:spcPct val="128000"/>
              </a:lnSpc>
              <a:spcAft>
                <a:spcPts val="0"/>
              </a:spcAft>
            </a:pPr>
            <a:r>
              <a:rPr sz="1300" b="0">
                <a:solidFill>
                  <a:srgbClr val="8E9995"/>
                </a:solidFill>
              </a:rPr>
              <a:t>Every question hits EverOS hybrid search first. Approved memories come back ranked; a deterministic packer spends what's left of the budget on evidence.</a:t>
            </a:r>
          </a:p>
        </p:txBody>
      </p:sp>
      <p:sp>
        <p:nvSpPr>
          <p:cNvPr id="15" name="Rounded Rectangle 14"/>
          <p:cNvSpPr/>
          <p:nvPr/>
        </p:nvSpPr>
        <p:spPr>
          <a:xfrm>
            <a:off x="7973567" y="1783080"/>
            <a:ext cx="3529584" cy="3401568"/>
          </a:xfrm>
          <a:prstGeom prst="roundRect">
            <a:avLst>
              <a:gd name="adj" fmla="val 4500"/>
            </a:avLst>
          </a:prstGeom>
          <a:solidFill>
            <a:srgbClr val="141818"/>
          </a:solidFill>
          <a:ln w="12700">
            <a:solidFill>
              <a:srgbClr val="2930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247888" y="2029968"/>
            <a:ext cx="822960" cy="457200"/>
          </a:xfrm>
          <a:prstGeom prst="rect">
            <a:avLst/>
          </a:prstGeom>
          <a:noFill/>
        </p:spPr>
        <p:txBody>
          <a:bodyPr wrap="square" lIns="0" rIns="0" tIns="0" bIns="0" anchor="t">
            <a:spAutoFit/>
          </a:bodyPr>
          <a:lstStyle/>
          <a:p>
            <a:pPr algn="l">
              <a:lnSpc>
                <a:spcPct val="100000"/>
              </a:lnSpc>
              <a:spcAft>
                <a:spcPts val="0"/>
              </a:spcAft>
            </a:pPr>
            <a:r>
              <a:rPr sz="2600" b="1">
                <a:solidFill>
                  <a:srgbClr val="65CDFD"/>
                </a:solidFill>
              </a:rPr>
              <a:t>03</a:t>
            </a:r>
          </a:p>
        </p:txBody>
      </p:sp>
      <p:sp>
        <p:nvSpPr>
          <p:cNvPr id="17" name="TextBox 16"/>
          <p:cNvSpPr txBox="1"/>
          <p:nvPr/>
        </p:nvSpPr>
        <p:spPr>
          <a:xfrm>
            <a:off x="8247888" y="2615184"/>
            <a:ext cx="2377440" cy="256032"/>
          </a:xfrm>
          <a:prstGeom prst="rect">
            <a:avLst/>
          </a:prstGeom>
          <a:noFill/>
        </p:spPr>
        <p:txBody>
          <a:bodyPr wrap="square" lIns="0" rIns="0" tIns="0" bIns="0" anchor="t">
            <a:spAutoFit/>
          </a:bodyPr>
          <a:lstStyle/>
          <a:p>
            <a:pPr algn="l">
              <a:lnSpc>
                <a:spcPct val="115000"/>
              </a:lnSpc>
              <a:spcAft>
                <a:spcPts val="0"/>
              </a:spcAft>
            </a:pPr>
            <a:r>
              <a:rPr sz="1200" b="1" spc="110">
                <a:solidFill>
                  <a:srgbClr val="65CDFD"/>
                </a:solidFill>
              </a:rPr>
              <a:t>PROVE</a:t>
            </a:r>
          </a:p>
        </p:txBody>
      </p:sp>
      <p:sp>
        <p:nvSpPr>
          <p:cNvPr id="18" name="TextBox 17"/>
          <p:cNvSpPr txBox="1"/>
          <p:nvPr/>
        </p:nvSpPr>
        <p:spPr>
          <a:xfrm>
            <a:off x="8247888" y="2962656"/>
            <a:ext cx="3017520" cy="411480"/>
          </a:xfrm>
          <a:prstGeom prst="rect">
            <a:avLst/>
          </a:prstGeom>
          <a:noFill/>
        </p:spPr>
        <p:txBody>
          <a:bodyPr wrap="square" lIns="0" rIns="0" tIns="0" bIns="0" anchor="t">
            <a:spAutoFit/>
          </a:bodyPr>
          <a:lstStyle/>
          <a:p>
            <a:pPr algn="l">
              <a:lnSpc>
                <a:spcPct val="105000"/>
              </a:lnSpc>
              <a:spcAft>
                <a:spcPts val="0"/>
              </a:spcAft>
            </a:pPr>
            <a:r>
              <a:rPr sz="2100" b="1">
                <a:solidFill>
                  <a:srgbClr val="EDF3EC"/>
                </a:solidFill>
              </a:rPr>
              <a:t>Measured inference</a:t>
            </a:r>
          </a:p>
        </p:txBody>
      </p:sp>
      <p:sp>
        <p:nvSpPr>
          <p:cNvPr id="19" name="TextBox 18"/>
          <p:cNvSpPr txBox="1"/>
          <p:nvPr/>
        </p:nvSpPr>
        <p:spPr>
          <a:xfrm>
            <a:off x="8247888" y="3566160"/>
            <a:ext cx="2999232" cy="1417320"/>
          </a:xfrm>
          <a:prstGeom prst="rect">
            <a:avLst/>
          </a:prstGeom>
          <a:noFill/>
        </p:spPr>
        <p:txBody>
          <a:bodyPr wrap="square" lIns="0" rIns="0" tIns="0" bIns="0" anchor="t">
            <a:spAutoFit/>
          </a:bodyPr>
          <a:lstStyle/>
          <a:p>
            <a:pPr algn="l">
              <a:lnSpc>
                <a:spcPct val="128000"/>
              </a:lnSpc>
              <a:spcAft>
                <a:spcPts val="0"/>
              </a:spcAft>
            </a:pPr>
            <a:r>
              <a:rPr sz="1300" b="0">
                <a:solidFill>
                  <a:srgbClr val="8E9995"/>
                </a:solidFill>
              </a:rPr>
              <a:t>The BYOK model answers once. Snowflake records aggregate context economics — never raw activity or memory text.</a:t>
            </a:r>
          </a:p>
        </p:txBody>
      </p:sp>
      <p:sp>
        <p:nvSpPr>
          <p:cNvPr id="20" name="Rounded Rectangle 19"/>
          <p:cNvSpPr/>
          <p:nvPr/>
        </p:nvSpPr>
        <p:spPr>
          <a:xfrm>
            <a:off x="493776" y="5486400"/>
            <a:ext cx="10725912" cy="786384"/>
          </a:xfrm>
          <a:prstGeom prst="roundRect">
            <a:avLst>
              <a:gd name="adj" fmla="val 4500"/>
            </a:avLst>
          </a:prstGeom>
          <a:solidFill>
            <a:srgbClr val="101313"/>
          </a:solidFill>
          <a:ln w="12700">
            <a:solidFill>
              <a:srgbClr val="2930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93776" y="5742432"/>
            <a:ext cx="1787652" cy="256032"/>
          </a:xfrm>
          <a:prstGeom prst="rect">
            <a:avLst/>
          </a:prstGeom>
          <a:noFill/>
        </p:spPr>
        <p:txBody>
          <a:bodyPr wrap="square" lIns="0" rIns="0" tIns="0" bIns="0" anchor="t">
            <a:spAutoFit/>
          </a:bodyPr>
          <a:lstStyle/>
          <a:p>
            <a:pPr algn="ctr">
              <a:lnSpc>
                <a:spcPct val="115000"/>
              </a:lnSpc>
              <a:spcAft>
                <a:spcPts val="0"/>
              </a:spcAft>
            </a:pPr>
            <a:r>
              <a:rPr sz="1050" b="1" spc="50">
                <a:solidFill>
                  <a:srgbClr val="8E9995"/>
                </a:solidFill>
              </a:rPr>
              <a:t>QUESTION</a:t>
            </a:r>
          </a:p>
        </p:txBody>
      </p:sp>
      <p:sp>
        <p:nvSpPr>
          <p:cNvPr id="22" name="TextBox 21"/>
          <p:cNvSpPr txBox="1"/>
          <p:nvPr/>
        </p:nvSpPr>
        <p:spPr>
          <a:xfrm>
            <a:off x="2135124" y="5733288"/>
            <a:ext cx="292608" cy="256032"/>
          </a:xfrm>
          <a:prstGeom prst="rect">
            <a:avLst/>
          </a:prstGeom>
          <a:noFill/>
        </p:spPr>
        <p:txBody>
          <a:bodyPr wrap="square" lIns="0" rIns="0" tIns="0" bIns="0" anchor="t">
            <a:spAutoFit/>
          </a:bodyPr>
          <a:lstStyle/>
          <a:p>
            <a:pPr algn="ctr">
              <a:lnSpc>
                <a:spcPct val="115000"/>
              </a:lnSpc>
              <a:spcAft>
                <a:spcPts val="0"/>
              </a:spcAft>
            </a:pPr>
            <a:r>
              <a:rPr sz="1100" b="1">
                <a:solidFill>
                  <a:srgbClr val="5F6A66"/>
                </a:solidFill>
              </a:rPr>
              <a:t>→</a:t>
            </a:r>
          </a:p>
        </p:txBody>
      </p:sp>
      <p:sp>
        <p:nvSpPr>
          <p:cNvPr id="23" name="TextBox 22"/>
          <p:cNvSpPr txBox="1"/>
          <p:nvPr/>
        </p:nvSpPr>
        <p:spPr>
          <a:xfrm>
            <a:off x="2281428" y="5742432"/>
            <a:ext cx="1787652" cy="256032"/>
          </a:xfrm>
          <a:prstGeom prst="rect">
            <a:avLst/>
          </a:prstGeom>
          <a:noFill/>
        </p:spPr>
        <p:txBody>
          <a:bodyPr wrap="square" lIns="0" rIns="0" tIns="0" bIns="0" anchor="t">
            <a:spAutoFit/>
          </a:bodyPr>
          <a:lstStyle/>
          <a:p>
            <a:pPr algn="ctr">
              <a:lnSpc>
                <a:spcPct val="115000"/>
              </a:lnSpc>
              <a:spcAft>
                <a:spcPts val="0"/>
              </a:spcAft>
            </a:pPr>
            <a:r>
              <a:rPr sz="1050" b="1" spc="50">
                <a:solidFill>
                  <a:srgbClr val="B7FF3C"/>
                </a:solidFill>
              </a:rPr>
              <a:t>EVEROS SEARCH</a:t>
            </a:r>
          </a:p>
        </p:txBody>
      </p:sp>
      <p:sp>
        <p:nvSpPr>
          <p:cNvPr id="24" name="TextBox 23"/>
          <p:cNvSpPr txBox="1"/>
          <p:nvPr/>
        </p:nvSpPr>
        <p:spPr>
          <a:xfrm>
            <a:off x="3922776" y="5733288"/>
            <a:ext cx="292608" cy="256032"/>
          </a:xfrm>
          <a:prstGeom prst="rect">
            <a:avLst/>
          </a:prstGeom>
          <a:noFill/>
        </p:spPr>
        <p:txBody>
          <a:bodyPr wrap="square" lIns="0" rIns="0" tIns="0" bIns="0" anchor="t">
            <a:spAutoFit/>
          </a:bodyPr>
          <a:lstStyle/>
          <a:p>
            <a:pPr algn="ctr">
              <a:lnSpc>
                <a:spcPct val="115000"/>
              </a:lnSpc>
              <a:spcAft>
                <a:spcPts val="0"/>
              </a:spcAft>
            </a:pPr>
            <a:r>
              <a:rPr sz="1100" b="1">
                <a:solidFill>
                  <a:srgbClr val="5F6A66"/>
                </a:solidFill>
              </a:rPr>
              <a:t>→</a:t>
            </a:r>
          </a:p>
        </p:txBody>
      </p:sp>
      <p:sp>
        <p:nvSpPr>
          <p:cNvPr id="25" name="TextBox 24"/>
          <p:cNvSpPr txBox="1"/>
          <p:nvPr/>
        </p:nvSpPr>
        <p:spPr>
          <a:xfrm>
            <a:off x="4069080" y="5742432"/>
            <a:ext cx="1787652" cy="256032"/>
          </a:xfrm>
          <a:prstGeom prst="rect">
            <a:avLst/>
          </a:prstGeom>
          <a:noFill/>
        </p:spPr>
        <p:txBody>
          <a:bodyPr wrap="square" lIns="0" rIns="0" tIns="0" bIns="0" anchor="t">
            <a:spAutoFit/>
          </a:bodyPr>
          <a:lstStyle/>
          <a:p>
            <a:pPr algn="ctr">
              <a:lnSpc>
                <a:spcPct val="115000"/>
              </a:lnSpc>
              <a:spcAft>
                <a:spcPts val="0"/>
              </a:spcAft>
            </a:pPr>
            <a:r>
              <a:rPr sz="1050" b="1" spc="50">
                <a:solidFill>
                  <a:srgbClr val="B7FF3C"/>
                </a:solidFill>
              </a:rPr>
              <a:t>BUDGETED PACK</a:t>
            </a:r>
          </a:p>
        </p:txBody>
      </p:sp>
      <p:sp>
        <p:nvSpPr>
          <p:cNvPr id="26" name="TextBox 25"/>
          <p:cNvSpPr txBox="1"/>
          <p:nvPr/>
        </p:nvSpPr>
        <p:spPr>
          <a:xfrm>
            <a:off x="5710428" y="5733288"/>
            <a:ext cx="292608" cy="256032"/>
          </a:xfrm>
          <a:prstGeom prst="rect">
            <a:avLst/>
          </a:prstGeom>
          <a:noFill/>
        </p:spPr>
        <p:txBody>
          <a:bodyPr wrap="square" lIns="0" rIns="0" tIns="0" bIns="0" anchor="t">
            <a:spAutoFit/>
          </a:bodyPr>
          <a:lstStyle/>
          <a:p>
            <a:pPr algn="ctr">
              <a:lnSpc>
                <a:spcPct val="115000"/>
              </a:lnSpc>
              <a:spcAft>
                <a:spcPts val="0"/>
              </a:spcAft>
            </a:pPr>
            <a:r>
              <a:rPr sz="1100" b="1">
                <a:solidFill>
                  <a:srgbClr val="5F6A66"/>
                </a:solidFill>
              </a:rPr>
              <a:t>→</a:t>
            </a:r>
          </a:p>
        </p:txBody>
      </p:sp>
      <p:sp>
        <p:nvSpPr>
          <p:cNvPr id="27" name="TextBox 26"/>
          <p:cNvSpPr txBox="1"/>
          <p:nvPr/>
        </p:nvSpPr>
        <p:spPr>
          <a:xfrm>
            <a:off x="5856732" y="5742432"/>
            <a:ext cx="1787652" cy="256032"/>
          </a:xfrm>
          <a:prstGeom prst="rect">
            <a:avLst/>
          </a:prstGeom>
          <a:noFill/>
        </p:spPr>
        <p:txBody>
          <a:bodyPr wrap="square" lIns="0" rIns="0" tIns="0" bIns="0" anchor="t">
            <a:spAutoFit/>
          </a:bodyPr>
          <a:lstStyle/>
          <a:p>
            <a:pPr algn="ctr">
              <a:lnSpc>
                <a:spcPct val="115000"/>
              </a:lnSpc>
              <a:spcAft>
                <a:spcPts val="0"/>
              </a:spcAft>
            </a:pPr>
            <a:r>
              <a:rPr sz="1050" b="1" spc="50">
                <a:solidFill>
                  <a:srgbClr val="EDF3EC"/>
                </a:solidFill>
              </a:rPr>
              <a:t>ONE MODEL CALL</a:t>
            </a:r>
          </a:p>
        </p:txBody>
      </p:sp>
      <p:sp>
        <p:nvSpPr>
          <p:cNvPr id="28" name="TextBox 27"/>
          <p:cNvSpPr txBox="1"/>
          <p:nvPr/>
        </p:nvSpPr>
        <p:spPr>
          <a:xfrm>
            <a:off x="7498079" y="5733288"/>
            <a:ext cx="292608" cy="256032"/>
          </a:xfrm>
          <a:prstGeom prst="rect">
            <a:avLst/>
          </a:prstGeom>
          <a:noFill/>
        </p:spPr>
        <p:txBody>
          <a:bodyPr wrap="square" lIns="0" rIns="0" tIns="0" bIns="0" anchor="t">
            <a:spAutoFit/>
          </a:bodyPr>
          <a:lstStyle/>
          <a:p>
            <a:pPr algn="ctr">
              <a:lnSpc>
                <a:spcPct val="115000"/>
              </a:lnSpc>
              <a:spcAft>
                <a:spcPts val="0"/>
              </a:spcAft>
            </a:pPr>
            <a:r>
              <a:rPr sz="1100" b="1">
                <a:solidFill>
                  <a:srgbClr val="5F6A66"/>
                </a:solidFill>
              </a:rPr>
              <a:t>→</a:t>
            </a:r>
          </a:p>
        </p:txBody>
      </p:sp>
      <p:sp>
        <p:nvSpPr>
          <p:cNvPr id="29" name="TextBox 28"/>
          <p:cNvSpPr txBox="1"/>
          <p:nvPr/>
        </p:nvSpPr>
        <p:spPr>
          <a:xfrm>
            <a:off x="7644383" y="5742432"/>
            <a:ext cx="1787652" cy="256032"/>
          </a:xfrm>
          <a:prstGeom prst="rect">
            <a:avLst/>
          </a:prstGeom>
          <a:noFill/>
        </p:spPr>
        <p:txBody>
          <a:bodyPr wrap="square" lIns="0" rIns="0" tIns="0" bIns="0" anchor="t">
            <a:spAutoFit/>
          </a:bodyPr>
          <a:lstStyle/>
          <a:p>
            <a:pPr algn="ctr">
              <a:lnSpc>
                <a:spcPct val="115000"/>
              </a:lnSpc>
              <a:spcAft>
                <a:spcPts val="0"/>
              </a:spcAft>
            </a:pPr>
            <a:r>
              <a:rPr sz="1050" b="1" spc="50">
                <a:solidFill>
                  <a:srgbClr val="EDF3EC"/>
                </a:solidFill>
              </a:rPr>
              <a:t>ANSWER</a:t>
            </a:r>
          </a:p>
        </p:txBody>
      </p:sp>
      <p:sp>
        <p:nvSpPr>
          <p:cNvPr id="30" name="TextBox 29"/>
          <p:cNvSpPr txBox="1"/>
          <p:nvPr/>
        </p:nvSpPr>
        <p:spPr>
          <a:xfrm>
            <a:off x="9285732" y="5733288"/>
            <a:ext cx="292608" cy="256032"/>
          </a:xfrm>
          <a:prstGeom prst="rect">
            <a:avLst/>
          </a:prstGeom>
          <a:noFill/>
        </p:spPr>
        <p:txBody>
          <a:bodyPr wrap="square" lIns="0" rIns="0" tIns="0" bIns="0" anchor="t">
            <a:spAutoFit/>
          </a:bodyPr>
          <a:lstStyle/>
          <a:p>
            <a:pPr algn="ctr">
              <a:lnSpc>
                <a:spcPct val="115000"/>
              </a:lnSpc>
              <a:spcAft>
                <a:spcPts val="0"/>
              </a:spcAft>
            </a:pPr>
            <a:r>
              <a:rPr sz="1100" b="1">
                <a:solidFill>
                  <a:srgbClr val="5F6A66"/>
                </a:solidFill>
              </a:rPr>
              <a:t>→</a:t>
            </a:r>
          </a:p>
        </p:txBody>
      </p:sp>
      <p:sp>
        <p:nvSpPr>
          <p:cNvPr id="31" name="TextBox 30"/>
          <p:cNvSpPr txBox="1"/>
          <p:nvPr/>
        </p:nvSpPr>
        <p:spPr>
          <a:xfrm>
            <a:off x="9432036" y="5742432"/>
            <a:ext cx="1787652" cy="256032"/>
          </a:xfrm>
          <a:prstGeom prst="rect">
            <a:avLst/>
          </a:prstGeom>
          <a:noFill/>
        </p:spPr>
        <p:txBody>
          <a:bodyPr wrap="square" lIns="0" rIns="0" tIns="0" bIns="0" anchor="t">
            <a:spAutoFit/>
          </a:bodyPr>
          <a:lstStyle/>
          <a:p>
            <a:pPr algn="ctr">
              <a:lnSpc>
                <a:spcPct val="115000"/>
              </a:lnSpc>
              <a:spcAft>
                <a:spcPts val="0"/>
              </a:spcAft>
            </a:pPr>
            <a:r>
              <a:rPr sz="1050" b="1" spc="50">
                <a:solidFill>
                  <a:srgbClr val="65CDFD"/>
                </a:solidFill>
              </a:rPr>
              <a:t>SNOWFLAKE ROW</a:t>
            </a:r>
          </a:p>
        </p:txBody>
      </p:sp>
      <p:sp>
        <p:nvSpPr>
          <p:cNvPr id="32" name="TextBox 31"/>
          <p:cNvSpPr txBox="1"/>
          <p:nvPr/>
        </p:nvSpPr>
        <p:spPr>
          <a:xfrm>
            <a:off x="493776" y="6035040"/>
            <a:ext cx="10725912" cy="237744"/>
          </a:xfrm>
          <a:prstGeom prst="rect">
            <a:avLst/>
          </a:prstGeom>
          <a:noFill/>
        </p:spPr>
        <p:txBody>
          <a:bodyPr wrap="square" lIns="0" rIns="0" tIns="0" bIns="0" anchor="t">
            <a:spAutoFit/>
          </a:bodyPr>
          <a:lstStyle/>
          <a:p>
            <a:pPr algn="ctr">
              <a:lnSpc>
                <a:spcPct val="115000"/>
              </a:lnSpc>
              <a:spcAft>
                <a:spcPts val="0"/>
              </a:spcAft>
            </a:pPr>
            <a:r>
              <a:rPr sz="1100" b="0">
                <a:solidFill>
                  <a:srgbClr val="5F6A66"/>
                </a:solidFill>
              </a:rPr>
              <a:t>One question. One answer path. One auditable row of economics.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D0D"/>
        </a:solidFill>
        <a:effectLst/>
      </p:bgPr>
    </p:bg>
    <p:spTree>
      <p:nvGrpSpPr>
        <p:cNvPr id="1" name=""/>
        <p:cNvGrpSpPr/>
        <p:nvPr/>
      </p:nvGrpSpPr>
      <p:grpSpPr/>
      <p:sp>
        <p:nvSpPr>
          <p:cNvPr id="2" name="TextBox 1"/>
          <p:cNvSpPr txBox="1"/>
          <p:nvPr/>
        </p:nvSpPr>
        <p:spPr>
          <a:xfrm>
            <a:off x="11292840" y="6382512"/>
            <a:ext cx="548640" cy="228600"/>
          </a:xfrm>
          <a:prstGeom prst="rect">
            <a:avLst/>
          </a:prstGeom>
          <a:noFill/>
        </p:spPr>
        <p:txBody>
          <a:bodyPr wrap="square" lIns="0" rIns="0" tIns="0" bIns="0" anchor="t">
            <a:spAutoFit/>
          </a:bodyPr>
          <a:lstStyle/>
          <a:p>
            <a:pPr algn="r">
              <a:lnSpc>
                <a:spcPct val="115000"/>
              </a:lnSpc>
              <a:spcAft>
                <a:spcPts val="0"/>
              </a:spcAft>
            </a:pPr>
            <a:r>
              <a:rPr sz="1100" b="0">
                <a:solidFill>
                  <a:srgbClr val="5F6A66"/>
                </a:solidFill>
              </a:rPr>
              <a:t>04</a:t>
            </a:r>
          </a:p>
        </p:txBody>
      </p:sp>
      <p:sp>
        <p:nvSpPr>
          <p:cNvPr id="3" name="TextBox 2"/>
          <p:cNvSpPr txBox="1"/>
          <p:nvPr/>
        </p:nvSpPr>
        <p:spPr>
          <a:xfrm>
            <a:off x="493776" y="402336"/>
            <a:ext cx="7315200" cy="274320"/>
          </a:xfrm>
          <a:prstGeom prst="rect">
            <a:avLst/>
          </a:prstGeom>
          <a:noFill/>
        </p:spPr>
        <p:txBody>
          <a:bodyPr wrap="square" lIns="0" rIns="0" tIns="0" bIns="0" anchor="t">
            <a:spAutoFit/>
          </a:bodyPr>
          <a:lstStyle/>
          <a:p>
            <a:pPr algn="l">
              <a:lnSpc>
                <a:spcPct val="115000"/>
              </a:lnSpc>
              <a:spcAft>
                <a:spcPts val="0"/>
              </a:spcAft>
            </a:pPr>
            <a:r>
              <a:rPr sz="1250" b="1" spc="110">
                <a:solidFill>
                  <a:srgbClr val="B7FF3C"/>
                </a:solidFill>
              </a:rPr>
              <a:t>THE MEMORY LAYER</a:t>
            </a:r>
          </a:p>
        </p:txBody>
      </p:sp>
      <p:sp>
        <p:nvSpPr>
          <p:cNvPr id="4" name="TextBox 3"/>
          <p:cNvSpPr txBox="1"/>
          <p:nvPr/>
        </p:nvSpPr>
        <p:spPr>
          <a:xfrm>
            <a:off x="493776" y="786384"/>
            <a:ext cx="10698480" cy="868680"/>
          </a:xfrm>
          <a:prstGeom prst="rect">
            <a:avLst/>
          </a:prstGeom>
          <a:noFill/>
        </p:spPr>
        <p:txBody>
          <a:bodyPr wrap="square" lIns="0" rIns="0" tIns="0" bIns="0" anchor="t">
            <a:spAutoFit/>
          </a:bodyPr>
          <a:lstStyle/>
          <a:p>
            <a:pPr algn="l">
              <a:lnSpc>
                <a:spcPct val="106000"/>
              </a:lnSpc>
              <a:spcAft>
                <a:spcPts val="0"/>
              </a:spcAft>
            </a:pPr>
            <a:r>
              <a:rPr sz="3400" b="1">
                <a:solidFill>
                  <a:srgbClr val="EDF3EC"/>
                </a:solidFill>
              </a:rPr>
              <a:t>EverOS remembers. KnowU decides what to send.</a:t>
            </a:r>
          </a:p>
        </p:txBody>
      </p:sp>
      <p:sp>
        <p:nvSpPr>
          <p:cNvPr id="5" name="TextBox 4"/>
          <p:cNvSpPr txBox="1"/>
          <p:nvPr/>
        </p:nvSpPr>
        <p:spPr>
          <a:xfrm>
            <a:off x="493776" y="1700784"/>
            <a:ext cx="10424160" cy="310896"/>
          </a:xfrm>
          <a:prstGeom prst="rect">
            <a:avLst/>
          </a:prstGeom>
          <a:noFill/>
        </p:spPr>
        <p:txBody>
          <a:bodyPr wrap="square" lIns="0" rIns="0" tIns="0" bIns="0" anchor="t">
            <a:spAutoFit/>
          </a:bodyPr>
          <a:lstStyle/>
          <a:p>
            <a:pPr algn="l">
              <a:lnSpc>
                <a:spcPct val="115000"/>
              </a:lnSpc>
              <a:spcAft>
                <a:spcPts val="0"/>
              </a:spcAft>
            </a:pPr>
            <a:r>
              <a:rPr sz="1400" b="0">
                <a:solidFill>
                  <a:srgbClr val="8E9995"/>
                </a:solidFill>
              </a:rPr>
              <a:t>KnowU runs on the EverOS Personal Memory API v1. Memory is not a cache we bolted on — it is the retrieval layer the whole product is built around.</a:t>
            </a:r>
          </a:p>
        </p:txBody>
      </p:sp>
      <p:sp>
        <p:nvSpPr>
          <p:cNvPr id="6" name="TextBox 5"/>
          <p:cNvSpPr txBox="1"/>
          <p:nvPr/>
        </p:nvSpPr>
        <p:spPr>
          <a:xfrm>
            <a:off x="493776" y="2340864"/>
            <a:ext cx="5029200" cy="274320"/>
          </a:xfrm>
          <a:prstGeom prst="rect">
            <a:avLst/>
          </a:prstGeom>
          <a:noFill/>
        </p:spPr>
        <p:txBody>
          <a:bodyPr wrap="square" lIns="0" rIns="0" tIns="0" bIns="0" anchor="t">
            <a:spAutoFit/>
          </a:bodyPr>
          <a:lstStyle/>
          <a:p>
            <a:pPr algn="l">
              <a:lnSpc>
                <a:spcPct val="115000"/>
              </a:lnSpc>
              <a:spcAft>
                <a:spcPts val="0"/>
              </a:spcAft>
            </a:pPr>
            <a:r>
              <a:rPr sz="1100" b="1" spc="100">
                <a:solidFill>
                  <a:srgbClr val="B7FF3C"/>
                </a:solidFill>
              </a:rPr>
              <a:t>EVEROS PERSONAL MEMORY API v1</a:t>
            </a:r>
          </a:p>
        </p:txBody>
      </p:sp>
      <p:sp>
        <p:nvSpPr>
          <p:cNvPr id="7" name="Rounded Rectangle 6"/>
          <p:cNvSpPr/>
          <p:nvPr/>
        </p:nvSpPr>
        <p:spPr>
          <a:xfrm>
            <a:off x="493776" y="2724912"/>
            <a:ext cx="5230368" cy="932688"/>
          </a:xfrm>
          <a:prstGeom prst="roundRect">
            <a:avLst>
              <a:gd name="adj" fmla="val 4500"/>
            </a:avLst>
          </a:prstGeom>
          <a:solidFill>
            <a:srgbClr val="101313"/>
          </a:solidFill>
          <a:ln w="12700">
            <a:solidFill>
              <a:srgbClr val="2930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93776" y="2871216"/>
            <a:ext cx="32004" cy="640080"/>
          </a:xfrm>
          <a:prstGeom prst="rect">
            <a:avLst/>
          </a:prstGeom>
          <a:solidFill>
            <a:srgbClr val="2C34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13232" y="2880360"/>
            <a:ext cx="4754880" cy="256032"/>
          </a:xfrm>
          <a:prstGeom prst="rect">
            <a:avLst/>
          </a:prstGeom>
          <a:noFill/>
        </p:spPr>
        <p:txBody>
          <a:bodyPr wrap="square" lIns="0" rIns="0" tIns="0" bIns="0" anchor="t">
            <a:spAutoFit/>
          </a:bodyPr>
          <a:lstStyle/>
          <a:p>
            <a:pPr algn="l">
              <a:lnSpc>
                <a:spcPct val="115000"/>
              </a:lnSpc>
              <a:spcAft>
                <a:spcPts val="0"/>
              </a:spcAft>
            </a:pPr>
            <a:r>
              <a:rPr sz="1250" b="1">
                <a:solidFill>
                  <a:srgbClr val="EDF3EC"/>
                </a:solidFill>
              </a:rPr>
              <a:t>POST  /api/v1/memories</a:t>
            </a:r>
          </a:p>
        </p:txBody>
      </p:sp>
      <p:sp>
        <p:nvSpPr>
          <p:cNvPr id="10" name="TextBox 9"/>
          <p:cNvSpPr txBox="1"/>
          <p:nvPr/>
        </p:nvSpPr>
        <p:spPr>
          <a:xfrm>
            <a:off x="713232" y="3182112"/>
            <a:ext cx="4828032" cy="420624"/>
          </a:xfrm>
          <a:prstGeom prst="rect">
            <a:avLst/>
          </a:prstGeom>
          <a:noFill/>
        </p:spPr>
        <p:txBody>
          <a:bodyPr wrap="square" lIns="0" rIns="0" tIns="0" bIns="0" anchor="t">
            <a:spAutoFit/>
          </a:bodyPr>
          <a:lstStyle/>
          <a:p>
            <a:pPr algn="l">
              <a:lnSpc>
                <a:spcPct val="125000"/>
              </a:lnSpc>
              <a:spcAft>
                <a:spcPts val="0"/>
              </a:spcAft>
            </a:pPr>
            <a:r>
              <a:rPr sz="1050" b="0">
                <a:solidFill>
                  <a:srgbClr val="8E9995"/>
                </a:solidFill>
              </a:rPr>
              <a:t>Approved profile facts, interests, projects, patterns, and explicit user corrections are written through as memories.</a:t>
            </a:r>
          </a:p>
        </p:txBody>
      </p:sp>
      <p:sp>
        <p:nvSpPr>
          <p:cNvPr id="11" name="Rounded Rectangle 10"/>
          <p:cNvSpPr/>
          <p:nvPr/>
        </p:nvSpPr>
        <p:spPr>
          <a:xfrm>
            <a:off x="493776" y="3785615"/>
            <a:ext cx="5230368" cy="932688"/>
          </a:xfrm>
          <a:prstGeom prst="roundRect">
            <a:avLst>
              <a:gd name="adj" fmla="val 4500"/>
            </a:avLst>
          </a:prstGeom>
          <a:solidFill>
            <a:srgbClr val="101313"/>
          </a:solidFill>
          <a:ln w="12700">
            <a:solidFill>
              <a:srgbClr val="2930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493776" y="3931920"/>
            <a:ext cx="32004" cy="640080"/>
          </a:xfrm>
          <a:prstGeom prst="rect">
            <a:avLst/>
          </a:prstGeom>
          <a:solidFill>
            <a:srgbClr val="2C34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13232" y="3941063"/>
            <a:ext cx="4754880" cy="256032"/>
          </a:xfrm>
          <a:prstGeom prst="rect">
            <a:avLst/>
          </a:prstGeom>
          <a:noFill/>
        </p:spPr>
        <p:txBody>
          <a:bodyPr wrap="square" lIns="0" rIns="0" tIns="0" bIns="0" anchor="t">
            <a:spAutoFit/>
          </a:bodyPr>
          <a:lstStyle/>
          <a:p>
            <a:pPr algn="l">
              <a:lnSpc>
                <a:spcPct val="115000"/>
              </a:lnSpc>
              <a:spcAft>
                <a:spcPts val="0"/>
              </a:spcAft>
            </a:pPr>
            <a:r>
              <a:rPr sz="1250" b="1">
                <a:solidFill>
                  <a:srgbClr val="EDF3EC"/>
                </a:solidFill>
              </a:rPr>
              <a:t>POST  /api/v1/memories/flush</a:t>
            </a:r>
          </a:p>
        </p:txBody>
      </p:sp>
      <p:sp>
        <p:nvSpPr>
          <p:cNvPr id="14" name="TextBox 13"/>
          <p:cNvSpPr txBox="1"/>
          <p:nvPr/>
        </p:nvSpPr>
        <p:spPr>
          <a:xfrm>
            <a:off x="713232" y="4242816"/>
            <a:ext cx="4828032" cy="420624"/>
          </a:xfrm>
          <a:prstGeom prst="rect">
            <a:avLst/>
          </a:prstGeom>
          <a:noFill/>
        </p:spPr>
        <p:txBody>
          <a:bodyPr wrap="square" lIns="0" rIns="0" tIns="0" bIns="0" anchor="t">
            <a:spAutoFit/>
          </a:bodyPr>
          <a:lstStyle/>
          <a:p>
            <a:pPr algn="l">
              <a:lnSpc>
                <a:spcPct val="125000"/>
              </a:lnSpc>
              <a:spcAft>
                <a:spcPts val="0"/>
              </a:spcAft>
            </a:pPr>
            <a:r>
              <a:rPr sz="1050" b="0">
                <a:solidFill>
                  <a:srgbClr val="8E9995"/>
                </a:solidFill>
              </a:rPr>
              <a:t>Triggers extraction so new facts are indexed and retrievable before the next question.</a:t>
            </a:r>
          </a:p>
        </p:txBody>
      </p:sp>
      <p:sp>
        <p:nvSpPr>
          <p:cNvPr id="15" name="Rounded Rectangle 14"/>
          <p:cNvSpPr/>
          <p:nvPr/>
        </p:nvSpPr>
        <p:spPr>
          <a:xfrm>
            <a:off x="493776" y="4846320"/>
            <a:ext cx="5230368" cy="932688"/>
          </a:xfrm>
          <a:prstGeom prst="roundRect">
            <a:avLst>
              <a:gd name="adj" fmla="val 4500"/>
            </a:avLst>
          </a:prstGeom>
          <a:solidFill>
            <a:srgbClr val="101313"/>
          </a:solidFill>
          <a:ln w="12700">
            <a:solidFill>
              <a:srgbClr val="2930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493776" y="4992624"/>
            <a:ext cx="32004" cy="640080"/>
          </a:xfrm>
          <a:prstGeom prst="rect">
            <a:avLst/>
          </a:prstGeom>
          <a:solidFill>
            <a:srgbClr val="B7FF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13232" y="5001768"/>
            <a:ext cx="4754880" cy="256032"/>
          </a:xfrm>
          <a:prstGeom prst="rect">
            <a:avLst/>
          </a:prstGeom>
          <a:noFill/>
        </p:spPr>
        <p:txBody>
          <a:bodyPr wrap="square" lIns="0" rIns="0" tIns="0" bIns="0" anchor="t">
            <a:spAutoFit/>
          </a:bodyPr>
          <a:lstStyle/>
          <a:p>
            <a:pPr algn="l">
              <a:lnSpc>
                <a:spcPct val="115000"/>
              </a:lnSpc>
              <a:spcAft>
                <a:spcPts val="0"/>
              </a:spcAft>
            </a:pPr>
            <a:r>
              <a:rPr sz="1250" b="1">
                <a:solidFill>
                  <a:srgbClr val="B7FF3C"/>
                </a:solidFill>
              </a:rPr>
              <a:t>POST  /api/v1/memories/search</a:t>
            </a:r>
          </a:p>
        </p:txBody>
      </p:sp>
      <p:sp>
        <p:nvSpPr>
          <p:cNvPr id="18" name="TextBox 17"/>
          <p:cNvSpPr txBox="1"/>
          <p:nvPr/>
        </p:nvSpPr>
        <p:spPr>
          <a:xfrm>
            <a:off x="713232" y="5303520"/>
            <a:ext cx="4828032" cy="420624"/>
          </a:xfrm>
          <a:prstGeom prst="rect">
            <a:avLst/>
          </a:prstGeom>
          <a:noFill/>
        </p:spPr>
        <p:txBody>
          <a:bodyPr wrap="square" lIns="0" rIns="0" tIns="0" bIns="0" anchor="t">
            <a:spAutoFit/>
          </a:bodyPr>
          <a:lstStyle/>
          <a:p>
            <a:pPr algn="l">
              <a:lnSpc>
                <a:spcPct val="125000"/>
              </a:lnSpc>
              <a:spcAft>
                <a:spcPts val="0"/>
              </a:spcAft>
            </a:pPr>
            <a:r>
              <a:rPr sz="1050" b="0">
                <a:solidFill>
                  <a:srgbClr val="8E9995"/>
                </a:solidFill>
              </a:rPr>
              <a:t>Hybrid retrieval on every single query. This is the call that makes the prompt small.</a:t>
            </a:r>
          </a:p>
        </p:txBody>
      </p:sp>
      <p:sp>
        <p:nvSpPr>
          <p:cNvPr id="19" name="TextBox 18"/>
          <p:cNvSpPr txBox="1"/>
          <p:nvPr/>
        </p:nvSpPr>
        <p:spPr>
          <a:xfrm>
            <a:off x="493776" y="5961888"/>
            <a:ext cx="5486400" cy="402336"/>
          </a:xfrm>
          <a:prstGeom prst="rect">
            <a:avLst/>
          </a:prstGeom>
          <a:noFill/>
        </p:spPr>
        <p:txBody>
          <a:bodyPr wrap="square" lIns="0" rIns="0" tIns="0" bIns="0" anchor="t">
            <a:spAutoFit/>
          </a:bodyPr>
          <a:lstStyle/>
          <a:p>
            <a:pPr algn="l">
              <a:lnSpc>
                <a:spcPct val="125000"/>
              </a:lnSpc>
              <a:spcAft>
                <a:spcPts val="0"/>
              </a:spcAft>
            </a:pPr>
            <a:r>
              <a:rPr sz="1050" b="0">
                <a:solidFill>
                  <a:srgbClr val="5F6A66"/>
                </a:solidFill>
              </a:rPr>
              <a:t>A vendor-isolated MemoryService interface keeps the app free of provider-specific logic.</a:t>
            </a:r>
          </a:p>
        </p:txBody>
      </p:sp>
      <p:sp>
        <p:nvSpPr>
          <p:cNvPr id="20" name="TextBox 19"/>
          <p:cNvSpPr txBox="1"/>
          <p:nvPr/>
        </p:nvSpPr>
        <p:spPr>
          <a:xfrm>
            <a:off x="6327648" y="2340864"/>
            <a:ext cx="5029200" cy="274320"/>
          </a:xfrm>
          <a:prstGeom prst="rect">
            <a:avLst/>
          </a:prstGeom>
          <a:noFill/>
        </p:spPr>
        <p:txBody>
          <a:bodyPr wrap="square" lIns="0" rIns="0" tIns="0" bIns="0" anchor="t">
            <a:spAutoFit/>
          </a:bodyPr>
          <a:lstStyle/>
          <a:p>
            <a:pPr algn="l">
              <a:lnSpc>
                <a:spcPct val="115000"/>
              </a:lnSpc>
              <a:spcAft>
                <a:spcPts val="0"/>
              </a:spcAft>
            </a:pPr>
            <a:r>
              <a:rPr sz="1100" b="1" spc="100">
                <a:solidFill>
                  <a:srgbClr val="8E9995"/>
                </a:solidFill>
              </a:rPr>
              <a:t>WHAT CROSSES THE BOUNDARY</a:t>
            </a:r>
          </a:p>
        </p:txBody>
      </p:sp>
      <p:sp>
        <p:nvSpPr>
          <p:cNvPr id="21" name="Rounded Rectangle 20"/>
          <p:cNvSpPr/>
          <p:nvPr/>
        </p:nvSpPr>
        <p:spPr>
          <a:xfrm>
            <a:off x="6327648" y="2724912"/>
            <a:ext cx="4892040" cy="1700784"/>
          </a:xfrm>
          <a:prstGeom prst="roundRect">
            <a:avLst>
              <a:gd name="adj" fmla="val 4500"/>
            </a:avLst>
          </a:prstGeom>
          <a:solidFill>
            <a:srgbClr val="101313"/>
          </a:solidFill>
          <a:ln w="12700">
            <a:solidFill>
              <a:srgbClr val="2930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6583680" y="2980944"/>
            <a:ext cx="109728" cy="109728"/>
          </a:xfrm>
          <a:prstGeom prst="ellipse">
            <a:avLst/>
          </a:prstGeom>
          <a:solidFill>
            <a:srgbClr val="B7FF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803136" y="2916936"/>
            <a:ext cx="4206240" cy="256032"/>
          </a:xfrm>
          <a:prstGeom prst="rect">
            <a:avLst/>
          </a:prstGeom>
          <a:noFill/>
        </p:spPr>
        <p:txBody>
          <a:bodyPr wrap="square" lIns="0" rIns="0" tIns="0" bIns="0" anchor="t">
            <a:spAutoFit/>
          </a:bodyPr>
          <a:lstStyle/>
          <a:p>
            <a:pPr algn="l">
              <a:lnSpc>
                <a:spcPct val="115000"/>
              </a:lnSpc>
              <a:spcAft>
                <a:spcPts val="0"/>
              </a:spcAft>
            </a:pPr>
            <a:r>
              <a:rPr sz="1150" b="1" spc="80">
                <a:solidFill>
                  <a:srgbClr val="B7FF3C"/>
                </a:solidFill>
              </a:rPr>
              <a:t>SENT TO EVEROS</a:t>
            </a:r>
          </a:p>
        </p:txBody>
      </p:sp>
      <p:sp>
        <p:nvSpPr>
          <p:cNvPr id="24" name="TextBox 23"/>
          <p:cNvSpPr txBox="1"/>
          <p:nvPr/>
        </p:nvSpPr>
        <p:spPr>
          <a:xfrm>
            <a:off x="6803136" y="3291840"/>
            <a:ext cx="4251960" cy="292608"/>
          </a:xfrm>
          <a:prstGeom prst="rect">
            <a:avLst/>
          </a:prstGeom>
          <a:noFill/>
        </p:spPr>
        <p:txBody>
          <a:bodyPr wrap="square" lIns="0" rIns="0" tIns="0" bIns="0" anchor="t">
            <a:spAutoFit/>
          </a:bodyPr>
          <a:lstStyle/>
          <a:p>
            <a:pPr algn="l">
              <a:lnSpc>
                <a:spcPct val="120000"/>
              </a:lnSpc>
              <a:spcAft>
                <a:spcPts val="0"/>
              </a:spcAft>
            </a:pPr>
            <a:r>
              <a:rPr sz="1100" b="0">
                <a:solidFill>
                  <a:srgbClr val="EDF3EC"/>
                </a:solidFill>
              </a:rPr>
              <a:t>— Approved profile summary, interests, projects, patterns</a:t>
            </a:r>
          </a:p>
        </p:txBody>
      </p:sp>
      <p:sp>
        <p:nvSpPr>
          <p:cNvPr id="25" name="TextBox 24"/>
          <p:cNvSpPr txBox="1"/>
          <p:nvPr/>
        </p:nvSpPr>
        <p:spPr>
          <a:xfrm>
            <a:off x="6803136" y="3621024"/>
            <a:ext cx="4251960" cy="292608"/>
          </a:xfrm>
          <a:prstGeom prst="rect">
            <a:avLst/>
          </a:prstGeom>
          <a:noFill/>
        </p:spPr>
        <p:txBody>
          <a:bodyPr wrap="square" lIns="0" rIns="0" tIns="0" bIns="0" anchor="t">
            <a:spAutoFit/>
          </a:bodyPr>
          <a:lstStyle/>
          <a:p>
            <a:pPr algn="l">
              <a:lnSpc>
                <a:spcPct val="120000"/>
              </a:lnSpc>
              <a:spcAft>
                <a:spcPts val="0"/>
              </a:spcAft>
            </a:pPr>
            <a:r>
              <a:rPr sz="1100" b="0">
                <a:solidFill>
                  <a:srgbClr val="EDF3EC"/>
                </a:solidFill>
              </a:rPr>
              <a:t>— Explicit user corrections, synced on save</a:t>
            </a:r>
          </a:p>
        </p:txBody>
      </p:sp>
      <p:sp>
        <p:nvSpPr>
          <p:cNvPr id="26" name="TextBox 25"/>
          <p:cNvSpPr txBox="1"/>
          <p:nvPr/>
        </p:nvSpPr>
        <p:spPr>
          <a:xfrm>
            <a:off x="6803136" y="3950208"/>
            <a:ext cx="4251960" cy="292608"/>
          </a:xfrm>
          <a:prstGeom prst="rect">
            <a:avLst/>
          </a:prstGeom>
          <a:noFill/>
        </p:spPr>
        <p:txBody>
          <a:bodyPr wrap="square" lIns="0" rIns="0" tIns="0" bIns="0" anchor="t">
            <a:spAutoFit/>
          </a:bodyPr>
          <a:lstStyle/>
          <a:p>
            <a:pPr algn="l">
              <a:lnSpc>
                <a:spcPct val="120000"/>
              </a:lnSpc>
              <a:spcAft>
                <a:spcPts val="0"/>
              </a:spcAft>
            </a:pPr>
            <a:r>
              <a:rPr sz="1100" b="0">
                <a:solidFill>
                  <a:srgbClr val="EDF3EC"/>
                </a:solidFill>
              </a:rPr>
              <a:t>— The current question, for hybrid retrieval</a:t>
            </a:r>
          </a:p>
        </p:txBody>
      </p:sp>
      <p:sp>
        <p:nvSpPr>
          <p:cNvPr id="27" name="Rounded Rectangle 26"/>
          <p:cNvSpPr/>
          <p:nvPr/>
        </p:nvSpPr>
        <p:spPr>
          <a:xfrm>
            <a:off x="6327648" y="4572000"/>
            <a:ext cx="4892040" cy="1700784"/>
          </a:xfrm>
          <a:prstGeom prst="roundRect">
            <a:avLst>
              <a:gd name="adj" fmla="val 4500"/>
            </a:avLst>
          </a:prstGeom>
          <a:solidFill>
            <a:srgbClr val="101313"/>
          </a:solidFill>
          <a:ln w="12700">
            <a:solidFill>
              <a:srgbClr val="2930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6583680" y="4828032"/>
            <a:ext cx="109728" cy="109728"/>
          </a:xfrm>
          <a:prstGeom prst="ellipse">
            <a:avLst/>
          </a:prstGeom>
          <a:solidFill>
            <a:srgbClr val="5F6A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803136" y="4764024"/>
            <a:ext cx="4206240" cy="256032"/>
          </a:xfrm>
          <a:prstGeom prst="rect">
            <a:avLst/>
          </a:prstGeom>
          <a:noFill/>
        </p:spPr>
        <p:txBody>
          <a:bodyPr wrap="square" lIns="0" rIns="0" tIns="0" bIns="0" anchor="t">
            <a:spAutoFit/>
          </a:bodyPr>
          <a:lstStyle/>
          <a:p>
            <a:pPr algn="l">
              <a:lnSpc>
                <a:spcPct val="115000"/>
              </a:lnSpc>
              <a:spcAft>
                <a:spcPts val="0"/>
              </a:spcAft>
            </a:pPr>
            <a:r>
              <a:rPr sz="1150" b="1" spc="80">
                <a:solidFill>
                  <a:srgbClr val="8E9995"/>
                </a:solidFill>
              </a:rPr>
              <a:t>NEVER SENT</a:t>
            </a:r>
          </a:p>
        </p:txBody>
      </p:sp>
      <p:sp>
        <p:nvSpPr>
          <p:cNvPr id="30" name="TextBox 29"/>
          <p:cNvSpPr txBox="1"/>
          <p:nvPr/>
        </p:nvSpPr>
        <p:spPr>
          <a:xfrm>
            <a:off x="6803136" y="5138928"/>
            <a:ext cx="4251960" cy="292608"/>
          </a:xfrm>
          <a:prstGeom prst="rect">
            <a:avLst/>
          </a:prstGeom>
          <a:noFill/>
        </p:spPr>
        <p:txBody>
          <a:bodyPr wrap="square" lIns="0" rIns="0" tIns="0" bIns="0" anchor="t">
            <a:spAutoFit/>
          </a:bodyPr>
          <a:lstStyle/>
          <a:p>
            <a:pPr algn="l">
              <a:lnSpc>
                <a:spcPct val="120000"/>
              </a:lnSpc>
              <a:spcAft>
                <a:spcPts val="0"/>
              </a:spcAft>
            </a:pPr>
            <a:r>
              <a:rPr sz="1100" b="0">
                <a:solidFill>
                  <a:srgbClr val="8E9995"/>
                </a:solidFill>
              </a:rPr>
              <a:t>— Raw browser history, URLs, window and page titles</a:t>
            </a:r>
          </a:p>
        </p:txBody>
      </p:sp>
      <p:sp>
        <p:nvSpPr>
          <p:cNvPr id="31" name="TextBox 30"/>
          <p:cNvSpPr txBox="1"/>
          <p:nvPr/>
        </p:nvSpPr>
        <p:spPr>
          <a:xfrm>
            <a:off x="6803136" y="5468112"/>
            <a:ext cx="4251960" cy="292608"/>
          </a:xfrm>
          <a:prstGeom prst="rect">
            <a:avLst/>
          </a:prstGeom>
          <a:noFill/>
        </p:spPr>
        <p:txBody>
          <a:bodyPr wrap="square" lIns="0" rIns="0" tIns="0" bIns="0" anchor="t">
            <a:spAutoFit/>
          </a:bodyPr>
          <a:lstStyle/>
          <a:p>
            <a:pPr algn="l">
              <a:lnSpc>
                <a:spcPct val="120000"/>
              </a:lnSpc>
              <a:spcAft>
                <a:spcPts val="0"/>
              </a:spcAft>
            </a:pPr>
            <a:r>
              <a:rPr sz="1100" b="0">
                <a:solidFill>
                  <a:srgbClr val="8E9995"/>
                </a:solidFill>
              </a:rPr>
              <a:t>— Source file contents and Local History snapshots</a:t>
            </a:r>
          </a:p>
        </p:txBody>
      </p:sp>
      <p:sp>
        <p:nvSpPr>
          <p:cNvPr id="32" name="TextBox 31"/>
          <p:cNvSpPr txBox="1"/>
          <p:nvPr/>
        </p:nvSpPr>
        <p:spPr>
          <a:xfrm>
            <a:off x="6803136" y="5797296"/>
            <a:ext cx="4251960" cy="292608"/>
          </a:xfrm>
          <a:prstGeom prst="rect">
            <a:avLst/>
          </a:prstGeom>
          <a:noFill/>
        </p:spPr>
        <p:txBody>
          <a:bodyPr wrap="square" lIns="0" rIns="0" tIns="0" bIns="0" anchor="t">
            <a:spAutoFit/>
          </a:bodyPr>
          <a:lstStyle/>
          <a:p>
            <a:pPr algn="l">
              <a:lnSpc>
                <a:spcPct val="120000"/>
              </a:lnSpc>
              <a:spcAft>
                <a:spcPts val="0"/>
              </a:spcAft>
            </a:pPr>
            <a:r>
              <a:rPr sz="1100" b="0">
                <a:solidFill>
                  <a:srgbClr val="8E9995"/>
                </a:solidFill>
              </a:rPr>
              <a:t>— Event IDs, browser-profile IDs, credential-like fields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D0D"/>
        </a:solidFill>
        <a:effectLst/>
      </p:bgPr>
    </p:bg>
    <p:spTree>
      <p:nvGrpSpPr>
        <p:cNvPr id="1" name=""/>
        <p:cNvGrpSpPr/>
        <p:nvPr/>
      </p:nvGrpSpPr>
      <p:grpSpPr/>
      <p:sp>
        <p:nvSpPr>
          <p:cNvPr id="2" name="TextBox 1"/>
          <p:cNvSpPr txBox="1"/>
          <p:nvPr/>
        </p:nvSpPr>
        <p:spPr>
          <a:xfrm>
            <a:off x="11292840" y="6382512"/>
            <a:ext cx="548640" cy="228600"/>
          </a:xfrm>
          <a:prstGeom prst="rect">
            <a:avLst/>
          </a:prstGeom>
          <a:noFill/>
        </p:spPr>
        <p:txBody>
          <a:bodyPr wrap="square" lIns="0" rIns="0" tIns="0" bIns="0" anchor="t">
            <a:spAutoFit/>
          </a:bodyPr>
          <a:lstStyle/>
          <a:p>
            <a:pPr algn="r">
              <a:lnSpc>
                <a:spcPct val="115000"/>
              </a:lnSpc>
              <a:spcAft>
                <a:spcPts val="0"/>
              </a:spcAft>
            </a:pPr>
            <a:r>
              <a:rPr sz="1100" b="0">
                <a:solidFill>
                  <a:srgbClr val="5F6A66"/>
                </a:solidFill>
              </a:rPr>
              <a:t>05</a:t>
            </a:r>
          </a:p>
        </p:txBody>
      </p:sp>
      <p:sp>
        <p:nvSpPr>
          <p:cNvPr id="3" name="TextBox 2"/>
          <p:cNvSpPr txBox="1"/>
          <p:nvPr/>
        </p:nvSpPr>
        <p:spPr>
          <a:xfrm>
            <a:off x="493776" y="402336"/>
            <a:ext cx="7315200" cy="274320"/>
          </a:xfrm>
          <a:prstGeom prst="rect">
            <a:avLst/>
          </a:prstGeom>
          <a:noFill/>
        </p:spPr>
        <p:txBody>
          <a:bodyPr wrap="square" lIns="0" rIns="0" tIns="0" bIns="0" anchor="t">
            <a:spAutoFit/>
          </a:bodyPr>
          <a:lstStyle/>
          <a:p>
            <a:pPr algn="l">
              <a:lnSpc>
                <a:spcPct val="115000"/>
              </a:lnSpc>
              <a:spcAft>
                <a:spcPts val="0"/>
              </a:spcAft>
            </a:pPr>
            <a:r>
              <a:rPr sz="1250" b="1" spc="110">
                <a:solidFill>
                  <a:srgbClr val="B7FF3C"/>
                </a:solidFill>
              </a:rPr>
              <a:t>THE RESULT</a:t>
            </a:r>
          </a:p>
        </p:txBody>
      </p:sp>
      <p:sp>
        <p:nvSpPr>
          <p:cNvPr id="4" name="TextBox 3"/>
          <p:cNvSpPr txBox="1"/>
          <p:nvPr/>
        </p:nvSpPr>
        <p:spPr>
          <a:xfrm>
            <a:off x="493776" y="786384"/>
            <a:ext cx="10698480" cy="868680"/>
          </a:xfrm>
          <a:prstGeom prst="rect">
            <a:avLst/>
          </a:prstGeom>
          <a:noFill/>
        </p:spPr>
        <p:txBody>
          <a:bodyPr wrap="square" lIns="0" rIns="0" tIns="0" bIns="0" anchor="t">
            <a:spAutoFit/>
          </a:bodyPr>
          <a:lstStyle/>
          <a:p>
            <a:pPr algn="l">
              <a:lnSpc>
                <a:spcPct val="106000"/>
              </a:lnSpc>
              <a:spcAft>
                <a:spcPts val="0"/>
              </a:spcAft>
            </a:pPr>
            <a:r>
              <a:rPr sz="3400" b="1">
                <a:solidFill>
                  <a:srgbClr val="EDF3EC"/>
                </a:solidFill>
              </a:rPr>
              <a:t>65% fewer input tokens. Measured, not asserted.</a:t>
            </a:r>
          </a:p>
        </p:txBody>
      </p:sp>
      <p:sp>
        <p:nvSpPr>
          <p:cNvPr id="5" name="TextBox 4"/>
          <p:cNvSpPr txBox="1"/>
          <p:nvPr/>
        </p:nvSpPr>
        <p:spPr>
          <a:xfrm>
            <a:off x="493776" y="1737360"/>
            <a:ext cx="4754880" cy="1463040"/>
          </a:xfrm>
          <a:prstGeom prst="rect">
            <a:avLst/>
          </a:prstGeom>
          <a:noFill/>
        </p:spPr>
        <p:txBody>
          <a:bodyPr wrap="square" lIns="0" rIns="0" tIns="0" bIns="0" anchor="t">
            <a:spAutoFit/>
          </a:bodyPr>
          <a:lstStyle/>
          <a:p>
            <a:pPr algn="l">
              <a:lnSpc>
                <a:spcPct val="95000"/>
              </a:lnSpc>
              <a:spcAft>
                <a:spcPts val="0"/>
              </a:spcAft>
            </a:pPr>
            <a:r>
              <a:rPr sz="10800" b="1">
                <a:solidFill>
                  <a:srgbClr val="B7FF3C"/>
                </a:solidFill>
              </a:rPr>
              <a:t>65%</a:t>
            </a:r>
          </a:p>
        </p:txBody>
      </p:sp>
      <p:sp>
        <p:nvSpPr>
          <p:cNvPr id="6" name="TextBox 5"/>
          <p:cNvSpPr txBox="1"/>
          <p:nvPr/>
        </p:nvSpPr>
        <p:spPr>
          <a:xfrm>
            <a:off x="548640" y="3163824"/>
            <a:ext cx="5120640" cy="548640"/>
          </a:xfrm>
          <a:prstGeom prst="rect">
            <a:avLst/>
          </a:prstGeom>
          <a:noFill/>
        </p:spPr>
        <p:txBody>
          <a:bodyPr wrap="square" lIns="0" rIns="0" tIns="0" bIns="0" anchor="t">
            <a:spAutoFit/>
          </a:bodyPr>
          <a:lstStyle/>
          <a:p>
            <a:pPr algn="l">
              <a:lnSpc>
                <a:spcPct val="135000"/>
              </a:lnSpc>
              <a:spcAft>
                <a:spcPts val="0"/>
              </a:spcAft>
            </a:pPr>
            <a:r>
              <a:rPr sz="1150" b="1" spc="100">
                <a:solidFill>
                  <a:srgbClr val="8E9995"/>
                </a:solidFill>
              </a:rPr>
              <a:t>AVERAGE INPUT-TOKEN REDUCTION</a:t>
            </a:r>
          </a:p>
          <a:p>
            <a:pPr algn="l">
              <a:lnSpc>
                <a:spcPct val="135000"/>
              </a:lnSpc>
              <a:spcAft>
                <a:spcPts val="0"/>
              </a:spcAft>
            </a:pPr>
            <a:r>
              <a:rPr sz="1150" b="1" spc="100">
                <a:solidFill>
                  <a:srgbClr val="8E9995"/>
                </a:solidFill>
              </a:rPr>
              <a:t>ACROSS EVERY LOGGED RUN</a:t>
            </a:r>
          </a:p>
        </p:txBody>
      </p:sp>
      <p:sp>
        <p:nvSpPr>
          <p:cNvPr id="7" name="Rounded Rectangle 6"/>
          <p:cNvSpPr/>
          <p:nvPr/>
        </p:nvSpPr>
        <p:spPr>
          <a:xfrm>
            <a:off x="5760720" y="1810512"/>
            <a:ext cx="2798064" cy="932688"/>
          </a:xfrm>
          <a:prstGeom prst="roundRect">
            <a:avLst>
              <a:gd name="adj" fmla="val 4500"/>
            </a:avLst>
          </a:prstGeom>
          <a:solidFill>
            <a:srgbClr val="101313"/>
          </a:solidFill>
          <a:ln w="12700">
            <a:solidFill>
              <a:srgbClr val="2930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998464" y="1956816"/>
            <a:ext cx="2377440" cy="420624"/>
          </a:xfrm>
          <a:prstGeom prst="rect">
            <a:avLst/>
          </a:prstGeom>
          <a:noFill/>
        </p:spPr>
        <p:txBody>
          <a:bodyPr wrap="square" lIns="0" rIns="0" tIns="0" bIns="0" anchor="t">
            <a:spAutoFit/>
          </a:bodyPr>
          <a:lstStyle/>
          <a:p>
            <a:pPr algn="l">
              <a:lnSpc>
                <a:spcPct val="100000"/>
              </a:lnSpc>
              <a:spcAft>
                <a:spcPts val="0"/>
              </a:spcAft>
            </a:pPr>
            <a:r>
              <a:rPr sz="2600" b="1">
                <a:solidFill>
                  <a:srgbClr val="EDF3EC"/>
                </a:solidFill>
              </a:rPr>
              <a:t>9</a:t>
            </a:r>
          </a:p>
        </p:txBody>
      </p:sp>
      <p:sp>
        <p:nvSpPr>
          <p:cNvPr id="9" name="TextBox 8"/>
          <p:cNvSpPr txBox="1"/>
          <p:nvPr/>
        </p:nvSpPr>
        <p:spPr>
          <a:xfrm>
            <a:off x="5998464" y="2414016"/>
            <a:ext cx="2468880" cy="219456"/>
          </a:xfrm>
          <a:prstGeom prst="rect">
            <a:avLst/>
          </a:prstGeom>
          <a:noFill/>
        </p:spPr>
        <p:txBody>
          <a:bodyPr wrap="square" lIns="0" rIns="0" tIns="0" bIns="0" anchor="t">
            <a:spAutoFit/>
          </a:bodyPr>
          <a:lstStyle/>
          <a:p>
            <a:pPr algn="l">
              <a:lnSpc>
                <a:spcPct val="115000"/>
              </a:lnSpc>
              <a:spcAft>
                <a:spcPts val="0"/>
              </a:spcAft>
            </a:pPr>
            <a:r>
              <a:rPr sz="950" b="1" spc="80">
                <a:solidFill>
                  <a:srgbClr val="8E9995"/>
                </a:solidFill>
              </a:rPr>
              <a:t>MEASURED RUNS</a:t>
            </a:r>
          </a:p>
        </p:txBody>
      </p:sp>
      <p:sp>
        <p:nvSpPr>
          <p:cNvPr id="10" name="Rounded Rectangle 9"/>
          <p:cNvSpPr/>
          <p:nvPr/>
        </p:nvSpPr>
        <p:spPr>
          <a:xfrm>
            <a:off x="8759952" y="1810512"/>
            <a:ext cx="2798064" cy="932688"/>
          </a:xfrm>
          <a:prstGeom prst="roundRect">
            <a:avLst>
              <a:gd name="adj" fmla="val 4500"/>
            </a:avLst>
          </a:prstGeom>
          <a:solidFill>
            <a:srgbClr val="101313"/>
          </a:solidFill>
          <a:ln w="12700">
            <a:solidFill>
              <a:srgbClr val="2930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997696" y="1956816"/>
            <a:ext cx="2377440" cy="420624"/>
          </a:xfrm>
          <a:prstGeom prst="rect">
            <a:avLst/>
          </a:prstGeom>
          <a:noFill/>
        </p:spPr>
        <p:txBody>
          <a:bodyPr wrap="square" lIns="0" rIns="0" tIns="0" bIns="0" anchor="t">
            <a:spAutoFit/>
          </a:bodyPr>
          <a:lstStyle/>
          <a:p>
            <a:pPr algn="l">
              <a:lnSpc>
                <a:spcPct val="100000"/>
              </a:lnSpc>
              <a:spcAft>
                <a:spcPts val="0"/>
              </a:spcAft>
            </a:pPr>
            <a:r>
              <a:rPr sz="2600" b="1">
                <a:solidFill>
                  <a:srgbClr val="EDF3EC"/>
                </a:solidFill>
              </a:rPr>
              <a:t>58–76%</a:t>
            </a:r>
          </a:p>
        </p:txBody>
      </p:sp>
      <p:sp>
        <p:nvSpPr>
          <p:cNvPr id="12" name="TextBox 11"/>
          <p:cNvSpPr txBox="1"/>
          <p:nvPr/>
        </p:nvSpPr>
        <p:spPr>
          <a:xfrm>
            <a:off x="8997696" y="2414016"/>
            <a:ext cx="2468880" cy="219456"/>
          </a:xfrm>
          <a:prstGeom prst="rect">
            <a:avLst/>
          </a:prstGeom>
          <a:noFill/>
        </p:spPr>
        <p:txBody>
          <a:bodyPr wrap="square" lIns="0" rIns="0" tIns="0" bIns="0" anchor="t">
            <a:spAutoFit/>
          </a:bodyPr>
          <a:lstStyle/>
          <a:p>
            <a:pPr algn="l">
              <a:lnSpc>
                <a:spcPct val="115000"/>
              </a:lnSpc>
              <a:spcAft>
                <a:spcPts val="0"/>
              </a:spcAft>
            </a:pPr>
            <a:r>
              <a:rPr sz="950" b="1" spc="80">
                <a:solidFill>
                  <a:srgbClr val="8E9995"/>
                </a:solidFill>
              </a:rPr>
              <a:t>PER-QUESTION RANGE</a:t>
            </a:r>
          </a:p>
        </p:txBody>
      </p:sp>
      <p:sp>
        <p:nvSpPr>
          <p:cNvPr id="13" name="Rounded Rectangle 12"/>
          <p:cNvSpPr/>
          <p:nvPr/>
        </p:nvSpPr>
        <p:spPr>
          <a:xfrm>
            <a:off x="5760720" y="2926080"/>
            <a:ext cx="2798064" cy="932688"/>
          </a:xfrm>
          <a:prstGeom prst="roundRect">
            <a:avLst>
              <a:gd name="adj" fmla="val 4500"/>
            </a:avLst>
          </a:prstGeom>
          <a:solidFill>
            <a:srgbClr val="101313"/>
          </a:solidFill>
          <a:ln w="12700">
            <a:solidFill>
              <a:srgbClr val="2930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998464" y="3072384"/>
            <a:ext cx="2377440" cy="420624"/>
          </a:xfrm>
          <a:prstGeom prst="rect">
            <a:avLst/>
          </a:prstGeom>
          <a:noFill/>
        </p:spPr>
        <p:txBody>
          <a:bodyPr wrap="square" lIns="0" rIns="0" tIns="0" bIns="0" anchor="t">
            <a:spAutoFit/>
          </a:bodyPr>
          <a:lstStyle/>
          <a:p>
            <a:pPr algn="l">
              <a:lnSpc>
                <a:spcPct val="100000"/>
              </a:lnSpc>
              <a:spcAft>
                <a:spcPts val="0"/>
              </a:spcAft>
            </a:pPr>
            <a:r>
              <a:rPr sz="2600" b="1">
                <a:solidFill>
                  <a:srgbClr val="EDF3EC"/>
                </a:solidFill>
              </a:rPr>
              <a:t>10,119</a:t>
            </a:r>
          </a:p>
        </p:txBody>
      </p:sp>
      <p:sp>
        <p:nvSpPr>
          <p:cNvPr id="15" name="TextBox 14"/>
          <p:cNvSpPr txBox="1"/>
          <p:nvPr/>
        </p:nvSpPr>
        <p:spPr>
          <a:xfrm>
            <a:off x="5998464" y="3529584"/>
            <a:ext cx="2468880" cy="219456"/>
          </a:xfrm>
          <a:prstGeom prst="rect">
            <a:avLst/>
          </a:prstGeom>
          <a:noFill/>
        </p:spPr>
        <p:txBody>
          <a:bodyPr wrap="square" lIns="0" rIns="0" tIns="0" bIns="0" anchor="t">
            <a:spAutoFit/>
          </a:bodyPr>
          <a:lstStyle/>
          <a:p>
            <a:pPr algn="l">
              <a:lnSpc>
                <a:spcPct val="115000"/>
              </a:lnSpc>
              <a:spcAft>
                <a:spcPts val="0"/>
              </a:spcAft>
            </a:pPr>
            <a:r>
              <a:rPr sz="950" b="1" spc="80">
                <a:solidFill>
                  <a:srgbClr val="8E9995"/>
                </a:solidFill>
              </a:rPr>
              <a:t>TOKENS SAVED</a:t>
            </a:r>
          </a:p>
        </p:txBody>
      </p:sp>
      <p:sp>
        <p:nvSpPr>
          <p:cNvPr id="16" name="Rounded Rectangle 15"/>
          <p:cNvSpPr/>
          <p:nvPr/>
        </p:nvSpPr>
        <p:spPr>
          <a:xfrm>
            <a:off x="8759952" y="2926080"/>
            <a:ext cx="2798064" cy="932688"/>
          </a:xfrm>
          <a:prstGeom prst="roundRect">
            <a:avLst>
              <a:gd name="adj" fmla="val 4500"/>
            </a:avLst>
          </a:prstGeom>
          <a:solidFill>
            <a:srgbClr val="101313"/>
          </a:solidFill>
          <a:ln w="12700">
            <a:solidFill>
              <a:srgbClr val="2930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997696" y="3072384"/>
            <a:ext cx="2377440" cy="420624"/>
          </a:xfrm>
          <a:prstGeom prst="rect">
            <a:avLst/>
          </a:prstGeom>
          <a:noFill/>
        </p:spPr>
        <p:txBody>
          <a:bodyPr wrap="square" lIns="0" rIns="0" tIns="0" bIns="0" anchor="t">
            <a:spAutoFit/>
          </a:bodyPr>
          <a:lstStyle/>
          <a:p>
            <a:pPr algn="l">
              <a:lnSpc>
                <a:spcPct val="100000"/>
              </a:lnSpc>
              <a:spcAft>
                <a:spcPts val="0"/>
              </a:spcAft>
            </a:pPr>
            <a:r>
              <a:rPr sz="2600" b="1">
                <a:solidFill>
                  <a:srgbClr val="EDF3EC"/>
                </a:solidFill>
              </a:rPr>
              <a:t>1,124</a:t>
            </a:r>
          </a:p>
        </p:txBody>
      </p:sp>
      <p:sp>
        <p:nvSpPr>
          <p:cNvPr id="18" name="TextBox 17"/>
          <p:cNvSpPr txBox="1"/>
          <p:nvPr/>
        </p:nvSpPr>
        <p:spPr>
          <a:xfrm>
            <a:off x="8997696" y="3529584"/>
            <a:ext cx="2468880" cy="219456"/>
          </a:xfrm>
          <a:prstGeom prst="rect">
            <a:avLst/>
          </a:prstGeom>
          <a:noFill/>
        </p:spPr>
        <p:txBody>
          <a:bodyPr wrap="square" lIns="0" rIns="0" tIns="0" bIns="0" anchor="t">
            <a:spAutoFit/>
          </a:bodyPr>
          <a:lstStyle/>
          <a:p>
            <a:pPr algn="l">
              <a:lnSpc>
                <a:spcPct val="115000"/>
              </a:lnSpc>
              <a:spcAft>
                <a:spcPts val="0"/>
              </a:spcAft>
            </a:pPr>
            <a:r>
              <a:rPr sz="950" b="1" spc="80">
                <a:solidFill>
                  <a:srgbClr val="8E9995"/>
                </a:solidFill>
              </a:rPr>
              <a:t>SAVED PER QUESTION</a:t>
            </a:r>
          </a:p>
        </p:txBody>
      </p:sp>
      <p:sp>
        <p:nvSpPr>
          <p:cNvPr id="19" name="Rounded Rectangle 18"/>
          <p:cNvSpPr/>
          <p:nvPr/>
        </p:nvSpPr>
        <p:spPr>
          <a:xfrm>
            <a:off x="493776" y="4096512"/>
            <a:ext cx="10725912" cy="1517904"/>
          </a:xfrm>
          <a:prstGeom prst="roundRect">
            <a:avLst>
              <a:gd name="adj" fmla="val 4500"/>
            </a:avLst>
          </a:prstGeom>
          <a:solidFill>
            <a:srgbClr val="101313"/>
          </a:solidFill>
          <a:ln w="12700">
            <a:solidFill>
              <a:srgbClr val="2930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31520" y="4279392"/>
            <a:ext cx="5486400" cy="237744"/>
          </a:xfrm>
          <a:prstGeom prst="rect">
            <a:avLst/>
          </a:prstGeom>
          <a:noFill/>
        </p:spPr>
        <p:txBody>
          <a:bodyPr wrap="square" lIns="0" rIns="0" tIns="0" bIns="0" anchor="t">
            <a:spAutoFit/>
          </a:bodyPr>
          <a:lstStyle/>
          <a:p>
            <a:pPr algn="l">
              <a:lnSpc>
                <a:spcPct val="115000"/>
              </a:lnSpc>
              <a:spcAft>
                <a:spcPts val="0"/>
              </a:spcAft>
            </a:pPr>
            <a:r>
              <a:rPr sz="1000" b="1" spc="90">
                <a:solidFill>
                  <a:srgbClr val="8E9995"/>
                </a:solidFill>
              </a:rPr>
              <a:t>TOTAL INPUT TOKENS ACROSS ALL 9 RUNS</a:t>
            </a:r>
          </a:p>
        </p:txBody>
      </p:sp>
      <p:sp>
        <p:nvSpPr>
          <p:cNvPr id="21" name="TextBox 20"/>
          <p:cNvSpPr txBox="1"/>
          <p:nvPr/>
        </p:nvSpPr>
        <p:spPr>
          <a:xfrm>
            <a:off x="731520" y="4645152"/>
            <a:ext cx="2286000" cy="237744"/>
          </a:xfrm>
          <a:prstGeom prst="rect">
            <a:avLst/>
          </a:prstGeom>
          <a:noFill/>
        </p:spPr>
        <p:txBody>
          <a:bodyPr wrap="square" lIns="0" rIns="0" tIns="0" bIns="0" anchor="t">
            <a:spAutoFit/>
          </a:bodyPr>
          <a:lstStyle/>
          <a:p>
            <a:pPr algn="l">
              <a:lnSpc>
                <a:spcPct val="115000"/>
              </a:lnSpc>
              <a:spcAft>
                <a:spcPts val="0"/>
              </a:spcAft>
            </a:pPr>
            <a:r>
              <a:rPr sz="1250" b="1">
                <a:solidFill>
                  <a:srgbClr val="8E9995"/>
                </a:solidFill>
              </a:rPr>
              <a:t>Full Context</a:t>
            </a:r>
          </a:p>
        </p:txBody>
      </p:sp>
      <p:sp>
        <p:nvSpPr>
          <p:cNvPr id="22" name="Rounded Rectangle 21"/>
          <p:cNvSpPr/>
          <p:nvPr/>
        </p:nvSpPr>
        <p:spPr>
          <a:xfrm>
            <a:off x="2395728" y="4654296"/>
            <a:ext cx="6903720" cy="201168"/>
          </a:xfrm>
          <a:prstGeom prst="roundRect">
            <a:avLst>
              <a:gd name="adj" fmla="val 50000"/>
            </a:avLst>
          </a:prstGeom>
          <a:solidFill>
            <a:srgbClr val="252C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2395728" y="4654296"/>
            <a:ext cx="6903720" cy="201168"/>
          </a:xfrm>
          <a:prstGeom prst="roundRect">
            <a:avLst>
              <a:gd name="adj" fmla="val 50000"/>
            </a:avLst>
          </a:prstGeom>
          <a:solidFill>
            <a:srgbClr val="3A43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454896" y="4617720"/>
            <a:ext cx="1737360" cy="256032"/>
          </a:xfrm>
          <a:prstGeom prst="rect">
            <a:avLst/>
          </a:prstGeom>
          <a:noFill/>
        </p:spPr>
        <p:txBody>
          <a:bodyPr wrap="square" lIns="0" rIns="0" tIns="0" bIns="0" anchor="t">
            <a:spAutoFit/>
          </a:bodyPr>
          <a:lstStyle/>
          <a:p>
            <a:pPr algn="l">
              <a:lnSpc>
                <a:spcPct val="115000"/>
              </a:lnSpc>
              <a:spcAft>
                <a:spcPts val="0"/>
              </a:spcAft>
            </a:pPr>
            <a:r>
              <a:rPr sz="1300" b="1">
                <a:solidFill>
                  <a:srgbClr val="8E9995"/>
                </a:solidFill>
              </a:rPr>
              <a:t>15,442</a:t>
            </a:r>
          </a:p>
        </p:txBody>
      </p:sp>
      <p:sp>
        <p:nvSpPr>
          <p:cNvPr id="25" name="TextBox 24"/>
          <p:cNvSpPr txBox="1"/>
          <p:nvPr/>
        </p:nvSpPr>
        <p:spPr>
          <a:xfrm>
            <a:off x="731520" y="5120640"/>
            <a:ext cx="2286000" cy="237744"/>
          </a:xfrm>
          <a:prstGeom prst="rect">
            <a:avLst/>
          </a:prstGeom>
          <a:noFill/>
        </p:spPr>
        <p:txBody>
          <a:bodyPr wrap="square" lIns="0" rIns="0" tIns="0" bIns="0" anchor="t">
            <a:spAutoFit/>
          </a:bodyPr>
          <a:lstStyle/>
          <a:p>
            <a:pPr algn="l">
              <a:lnSpc>
                <a:spcPct val="115000"/>
              </a:lnSpc>
              <a:spcAft>
                <a:spcPts val="0"/>
              </a:spcAft>
            </a:pPr>
            <a:r>
              <a:rPr sz="1250" b="1">
                <a:solidFill>
                  <a:srgbClr val="B7FF3C"/>
                </a:solidFill>
              </a:rPr>
              <a:t>KnowU Context</a:t>
            </a:r>
          </a:p>
        </p:txBody>
      </p:sp>
      <p:sp>
        <p:nvSpPr>
          <p:cNvPr id="26" name="Rounded Rectangle 25"/>
          <p:cNvSpPr/>
          <p:nvPr/>
        </p:nvSpPr>
        <p:spPr>
          <a:xfrm>
            <a:off x="2395728" y="5129784"/>
            <a:ext cx="2377440" cy="201168"/>
          </a:xfrm>
          <a:prstGeom prst="roundRect">
            <a:avLst>
              <a:gd name="adj" fmla="val 50000"/>
            </a:avLst>
          </a:prstGeom>
          <a:solidFill>
            <a:srgbClr val="B7FF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901184" y="5093208"/>
            <a:ext cx="3108960" cy="256032"/>
          </a:xfrm>
          <a:prstGeom prst="rect">
            <a:avLst/>
          </a:prstGeom>
          <a:noFill/>
        </p:spPr>
        <p:txBody>
          <a:bodyPr wrap="square" lIns="0" rIns="0" tIns="0" bIns="0" anchor="t">
            <a:spAutoFit/>
          </a:bodyPr>
          <a:lstStyle/>
          <a:p>
            <a:pPr algn="l">
              <a:lnSpc>
                <a:spcPct val="115000"/>
              </a:lnSpc>
              <a:spcAft>
                <a:spcPts val="0"/>
              </a:spcAft>
            </a:pPr>
            <a:r>
              <a:rPr sz="1300" b="1">
                <a:solidFill>
                  <a:srgbClr val="B7FF3C"/>
                </a:solidFill>
              </a:rPr>
              <a:t>5,323   ·   10,119 saved</a:t>
            </a:r>
          </a:p>
        </p:txBody>
      </p:sp>
      <p:sp>
        <p:nvSpPr>
          <p:cNvPr id="28" name="TextBox 27"/>
          <p:cNvSpPr txBox="1"/>
          <p:nvPr/>
        </p:nvSpPr>
        <p:spPr>
          <a:xfrm>
            <a:off x="493776" y="5833872"/>
            <a:ext cx="10789920" cy="640080"/>
          </a:xfrm>
          <a:prstGeom prst="rect">
            <a:avLst/>
          </a:prstGeom>
          <a:noFill/>
        </p:spPr>
        <p:txBody>
          <a:bodyPr wrap="square" lIns="0" rIns="0" tIns="0" bIns="0" anchor="t">
            <a:spAutoFit/>
          </a:bodyPr>
          <a:lstStyle/>
          <a:p>
            <a:pPr algn="l">
              <a:lnSpc>
                <a:spcPct val="135000"/>
              </a:lnSpc>
              <a:spcAft>
                <a:spcPts val="0"/>
              </a:spcAft>
            </a:pPr>
            <a:r>
              <a:rPr sz="1000" b="0">
                <a:solidFill>
                  <a:srgbClr val="5F6A66"/>
                </a:solidFill>
              </a:rPr>
              <a:t>gpt-5-mini · The sent prompt is the provider's actual reported input usage; the unsent baseline is scaled by the same deterministic ratio and labelled</a:t>
            </a:r>
          </a:p>
          <a:p>
            <a:pPr algn="l">
              <a:lnSpc>
                <a:spcPct val="135000"/>
              </a:lnSpc>
              <a:spcAft>
                <a:spcPts val="0"/>
              </a:spcAft>
            </a:pPr>
            <a:r>
              <a:rPr sz="1000" b="0">
                <a:solidFill>
                  <a:srgbClr val="5F6A66"/>
                </a:solidFill>
              </a:rPr>
              <a:t>“provider usage scaled estimate” in the product. No metric is presented as actual when it is estimated. Every run above is a row in Snowflake.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D0D"/>
        </a:solidFill>
        <a:effectLst/>
      </p:bgPr>
    </p:bg>
    <p:spTree>
      <p:nvGrpSpPr>
        <p:cNvPr id="1" name=""/>
        <p:cNvGrpSpPr/>
        <p:nvPr/>
      </p:nvGrpSpPr>
      <p:grpSpPr/>
      <p:sp>
        <p:nvSpPr>
          <p:cNvPr id="2" name="TextBox 1"/>
          <p:cNvSpPr txBox="1"/>
          <p:nvPr/>
        </p:nvSpPr>
        <p:spPr>
          <a:xfrm>
            <a:off x="11292840" y="6382512"/>
            <a:ext cx="548640" cy="228600"/>
          </a:xfrm>
          <a:prstGeom prst="rect">
            <a:avLst/>
          </a:prstGeom>
          <a:noFill/>
        </p:spPr>
        <p:txBody>
          <a:bodyPr wrap="square" lIns="0" rIns="0" tIns="0" bIns="0" anchor="t">
            <a:spAutoFit/>
          </a:bodyPr>
          <a:lstStyle/>
          <a:p>
            <a:pPr algn="r">
              <a:lnSpc>
                <a:spcPct val="115000"/>
              </a:lnSpc>
              <a:spcAft>
                <a:spcPts val="0"/>
              </a:spcAft>
            </a:pPr>
            <a:r>
              <a:rPr sz="1100" b="0">
                <a:solidFill>
                  <a:srgbClr val="5F6A66"/>
                </a:solidFill>
              </a:rPr>
              <a:t>06</a:t>
            </a:r>
          </a:p>
        </p:txBody>
      </p:sp>
      <p:sp>
        <p:nvSpPr>
          <p:cNvPr id="3" name="TextBox 2"/>
          <p:cNvSpPr txBox="1"/>
          <p:nvPr/>
        </p:nvSpPr>
        <p:spPr>
          <a:xfrm>
            <a:off x="493776" y="402336"/>
            <a:ext cx="7315200" cy="274320"/>
          </a:xfrm>
          <a:prstGeom prst="rect">
            <a:avLst/>
          </a:prstGeom>
          <a:noFill/>
        </p:spPr>
        <p:txBody>
          <a:bodyPr wrap="square" lIns="0" rIns="0" tIns="0" bIns="0" anchor="t">
            <a:spAutoFit/>
          </a:bodyPr>
          <a:lstStyle/>
          <a:p>
            <a:pPr algn="l">
              <a:lnSpc>
                <a:spcPct val="115000"/>
              </a:lnSpc>
              <a:spcAft>
                <a:spcPts val="0"/>
              </a:spcAft>
            </a:pPr>
            <a:r>
              <a:rPr sz="1250" b="1" spc="110">
                <a:solidFill>
                  <a:srgbClr val="B7FF3C"/>
                </a:solidFill>
              </a:rPr>
              <a:t>WHY IT COMPOUNDS</a:t>
            </a:r>
          </a:p>
        </p:txBody>
      </p:sp>
      <p:sp>
        <p:nvSpPr>
          <p:cNvPr id="4" name="TextBox 3"/>
          <p:cNvSpPr txBox="1"/>
          <p:nvPr/>
        </p:nvSpPr>
        <p:spPr>
          <a:xfrm>
            <a:off x="493776" y="786384"/>
            <a:ext cx="10698480" cy="868680"/>
          </a:xfrm>
          <a:prstGeom prst="rect">
            <a:avLst/>
          </a:prstGeom>
          <a:noFill/>
        </p:spPr>
        <p:txBody>
          <a:bodyPr wrap="square" lIns="0" rIns="0" tIns="0" bIns="0" anchor="t">
            <a:spAutoFit/>
          </a:bodyPr>
          <a:lstStyle/>
          <a:p>
            <a:pPr algn="l">
              <a:lnSpc>
                <a:spcPct val="106000"/>
              </a:lnSpc>
              <a:spcAft>
                <a:spcPts val="0"/>
              </a:spcAft>
            </a:pPr>
            <a:r>
              <a:rPr sz="3400" b="1">
                <a:solidFill>
                  <a:srgbClr val="EDF3EC"/>
                </a:solidFill>
              </a:rPr>
              <a:t>The more it remembers, the more it saves.</a:t>
            </a:r>
          </a:p>
        </p:txBody>
      </p:sp>
      <p:sp>
        <p:nvSpPr>
          <p:cNvPr id="5" name="TextBox 4"/>
          <p:cNvSpPr txBox="1"/>
          <p:nvPr/>
        </p:nvSpPr>
        <p:spPr>
          <a:xfrm>
            <a:off x="493776" y="1700784"/>
            <a:ext cx="10607040" cy="310896"/>
          </a:xfrm>
          <a:prstGeom prst="rect">
            <a:avLst/>
          </a:prstGeom>
          <a:noFill/>
        </p:spPr>
        <p:txBody>
          <a:bodyPr wrap="square" lIns="0" rIns="0" tIns="0" bIns="0" anchor="t">
            <a:spAutoFit/>
          </a:bodyPr>
          <a:lstStyle/>
          <a:p>
            <a:pPr algn="l">
              <a:lnSpc>
                <a:spcPct val="115000"/>
              </a:lnSpc>
              <a:spcAft>
                <a:spcPts val="0"/>
              </a:spcAft>
            </a:pPr>
            <a:r>
              <a:rPr sz="1400" b="0">
                <a:solidFill>
                  <a:srgbClr val="8E9995"/>
                </a:solidFill>
              </a:rPr>
              <a:t>Same user, same product, deeper memory. The baseline grew with the profile — and the gap KnowU captures grew faster.</a:t>
            </a:r>
          </a:p>
        </p:txBody>
      </p:sp>
      <p:sp>
        <p:nvSpPr>
          <p:cNvPr id="6" name="Rounded Rectangle 5"/>
          <p:cNvSpPr/>
          <p:nvPr/>
        </p:nvSpPr>
        <p:spPr>
          <a:xfrm>
            <a:off x="493776" y="2212848"/>
            <a:ext cx="5193792" cy="2889504"/>
          </a:xfrm>
          <a:prstGeom prst="roundRect">
            <a:avLst>
              <a:gd name="adj" fmla="val 4500"/>
            </a:avLst>
          </a:prstGeom>
          <a:solidFill>
            <a:srgbClr val="101313"/>
          </a:solidFill>
          <a:ln w="12700">
            <a:solidFill>
              <a:srgbClr val="2930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04672" y="2450592"/>
            <a:ext cx="3108960" cy="329184"/>
          </a:xfrm>
          <a:prstGeom prst="rect">
            <a:avLst/>
          </a:prstGeom>
          <a:noFill/>
        </p:spPr>
        <p:txBody>
          <a:bodyPr wrap="square" lIns="0" rIns="0" tIns="0" bIns="0" anchor="t">
            <a:spAutoFit/>
          </a:bodyPr>
          <a:lstStyle/>
          <a:p>
            <a:pPr algn="l">
              <a:lnSpc>
                <a:spcPct val="115000"/>
              </a:lnSpc>
              <a:spcAft>
                <a:spcPts val="0"/>
              </a:spcAft>
            </a:pPr>
            <a:r>
              <a:rPr sz="2000" b="1">
                <a:solidFill>
                  <a:srgbClr val="8E9995"/>
                </a:solidFill>
              </a:rPr>
              <a:t>5 MEMORIES</a:t>
            </a:r>
          </a:p>
        </p:txBody>
      </p:sp>
      <p:sp>
        <p:nvSpPr>
          <p:cNvPr id="8" name="TextBox 7"/>
          <p:cNvSpPr txBox="1"/>
          <p:nvPr/>
        </p:nvSpPr>
        <p:spPr>
          <a:xfrm>
            <a:off x="804672" y="2798064"/>
            <a:ext cx="3291840" cy="237744"/>
          </a:xfrm>
          <a:prstGeom prst="rect">
            <a:avLst/>
          </a:prstGeom>
          <a:noFill/>
        </p:spPr>
        <p:txBody>
          <a:bodyPr wrap="square" lIns="0" rIns="0" tIns="0" bIns="0" anchor="t">
            <a:spAutoFit/>
          </a:bodyPr>
          <a:lstStyle/>
          <a:p>
            <a:pPr algn="l">
              <a:lnSpc>
                <a:spcPct val="115000"/>
              </a:lnSpc>
              <a:spcAft>
                <a:spcPts val="0"/>
              </a:spcAft>
            </a:pPr>
            <a:r>
              <a:rPr sz="950" b="1" spc="80">
                <a:solidFill>
                  <a:srgbClr val="5F6A66"/>
                </a:solidFill>
              </a:rPr>
              <a:t>EARLY RUNS  ·  n=6</a:t>
            </a:r>
          </a:p>
        </p:txBody>
      </p:sp>
      <p:sp>
        <p:nvSpPr>
          <p:cNvPr id="9" name="TextBox 8"/>
          <p:cNvSpPr txBox="1"/>
          <p:nvPr/>
        </p:nvSpPr>
        <p:spPr>
          <a:xfrm>
            <a:off x="804672" y="3218688"/>
            <a:ext cx="1737360" cy="237744"/>
          </a:xfrm>
          <a:prstGeom prst="rect">
            <a:avLst/>
          </a:prstGeom>
          <a:noFill/>
        </p:spPr>
        <p:txBody>
          <a:bodyPr wrap="square" lIns="0" rIns="0" tIns="0" bIns="0" anchor="t">
            <a:spAutoFit/>
          </a:bodyPr>
          <a:lstStyle/>
          <a:p>
            <a:pPr algn="l">
              <a:lnSpc>
                <a:spcPct val="115000"/>
              </a:lnSpc>
              <a:spcAft>
                <a:spcPts val="0"/>
              </a:spcAft>
            </a:pPr>
            <a:r>
              <a:rPr sz="1150" b="0">
                <a:solidFill>
                  <a:srgbClr val="8E9995"/>
                </a:solidFill>
              </a:rPr>
              <a:t>Full context</a:t>
            </a:r>
          </a:p>
        </p:txBody>
      </p:sp>
      <p:sp>
        <p:nvSpPr>
          <p:cNvPr id="10" name="Rounded Rectangle 9"/>
          <p:cNvSpPr/>
          <p:nvPr/>
        </p:nvSpPr>
        <p:spPr>
          <a:xfrm>
            <a:off x="2249424" y="3236976"/>
            <a:ext cx="1246959" cy="182880"/>
          </a:xfrm>
          <a:prstGeom prst="roundRect">
            <a:avLst>
              <a:gd name="adj" fmla="val 50000"/>
            </a:avLst>
          </a:prstGeom>
          <a:solidFill>
            <a:srgbClr val="3A43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718304" y="3200400"/>
            <a:ext cx="914400" cy="237744"/>
          </a:xfrm>
          <a:prstGeom prst="rect">
            <a:avLst/>
          </a:prstGeom>
          <a:noFill/>
        </p:spPr>
        <p:txBody>
          <a:bodyPr wrap="square" lIns="0" rIns="0" tIns="0" bIns="0" anchor="t">
            <a:spAutoFit/>
          </a:bodyPr>
          <a:lstStyle/>
          <a:p>
            <a:pPr algn="l">
              <a:lnSpc>
                <a:spcPct val="115000"/>
              </a:lnSpc>
              <a:spcAft>
                <a:spcPts val="0"/>
              </a:spcAft>
            </a:pPr>
            <a:r>
              <a:rPr sz="1150" b="1">
                <a:solidFill>
                  <a:srgbClr val="EDF3EC"/>
                </a:solidFill>
              </a:rPr>
              <a:t>1,330</a:t>
            </a:r>
          </a:p>
        </p:txBody>
      </p:sp>
      <p:sp>
        <p:nvSpPr>
          <p:cNvPr id="12" name="TextBox 11"/>
          <p:cNvSpPr txBox="1"/>
          <p:nvPr/>
        </p:nvSpPr>
        <p:spPr>
          <a:xfrm>
            <a:off x="804672" y="3785615"/>
            <a:ext cx="1737360" cy="237744"/>
          </a:xfrm>
          <a:prstGeom prst="rect">
            <a:avLst/>
          </a:prstGeom>
          <a:noFill/>
        </p:spPr>
        <p:txBody>
          <a:bodyPr wrap="square" lIns="0" rIns="0" tIns="0" bIns="0" anchor="t">
            <a:spAutoFit/>
          </a:bodyPr>
          <a:lstStyle/>
          <a:p>
            <a:pPr algn="l">
              <a:lnSpc>
                <a:spcPct val="115000"/>
              </a:lnSpc>
              <a:spcAft>
                <a:spcPts val="0"/>
              </a:spcAft>
            </a:pPr>
            <a:r>
              <a:rPr sz="1150" b="0">
                <a:solidFill>
                  <a:srgbClr val="8E9995"/>
                </a:solidFill>
              </a:rPr>
              <a:t>KnowU sends</a:t>
            </a:r>
          </a:p>
        </p:txBody>
      </p:sp>
      <p:sp>
        <p:nvSpPr>
          <p:cNvPr id="13" name="Rounded Rectangle 12"/>
          <p:cNvSpPr/>
          <p:nvPr/>
        </p:nvSpPr>
        <p:spPr>
          <a:xfrm>
            <a:off x="2249424" y="3803903"/>
            <a:ext cx="360024" cy="182880"/>
          </a:xfrm>
          <a:prstGeom prst="roundRect">
            <a:avLst>
              <a:gd name="adj" fmla="val 50000"/>
            </a:avLst>
          </a:prstGeom>
          <a:solidFill>
            <a:srgbClr val="6F8C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718304" y="3767328"/>
            <a:ext cx="914400" cy="237744"/>
          </a:xfrm>
          <a:prstGeom prst="rect">
            <a:avLst/>
          </a:prstGeom>
          <a:noFill/>
        </p:spPr>
        <p:txBody>
          <a:bodyPr wrap="square" lIns="0" rIns="0" tIns="0" bIns="0" anchor="t">
            <a:spAutoFit/>
          </a:bodyPr>
          <a:lstStyle/>
          <a:p>
            <a:pPr algn="l">
              <a:lnSpc>
                <a:spcPct val="115000"/>
              </a:lnSpc>
              <a:spcAft>
                <a:spcPts val="0"/>
              </a:spcAft>
            </a:pPr>
            <a:r>
              <a:rPr sz="1150" b="1">
                <a:solidFill>
                  <a:srgbClr val="EDF3EC"/>
                </a:solidFill>
              </a:rPr>
              <a:t>384</a:t>
            </a:r>
          </a:p>
        </p:txBody>
      </p:sp>
      <p:sp>
        <p:nvSpPr>
          <p:cNvPr id="15" name="Rectangle 14"/>
          <p:cNvSpPr/>
          <p:nvPr/>
        </p:nvSpPr>
        <p:spPr>
          <a:xfrm>
            <a:off x="804672" y="4443984"/>
            <a:ext cx="4572000" cy="0"/>
          </a:xfrm>
          <a:prstGeom prst="rect">
            <a:avLst/>
          </a:prstGeom>
          <a:noFill/>
          <a:ln w="12700">
            <a:solidFill>
              <a:srgbClr val="293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4590288"/>
            <a:ext cx="2743200" cy="310896"/>
          </a:xfrm>
          <a:prstGeom prst="rect">
            <a:avLst/>
          </a:prstGeom>
          <a:noFill/>
        </p:spPr>
        <p:txBody>
          <a:bodyPr wrap="square" lIns="0" rIns="0" tIns="0" bIns="0" anchor="t">
            <a:spAutoFit/>
          </a:bodyPr>
          <a:lstStyle/>
          <a:p>
            <a:pPr algn="l">
              <a:lnSpc>
                <a:spcPct val="115000"/>
              </a:lnSpc>
              <a:spcAft>
                <a:spcPts val="0"/>
              </a:spcAft>
            </a:pPr>
            <a:r>
              <a:rPr sz="1200" b="0">
                <a:solidFill>
                  <a:srgbClr val="8E9995"/>
                </a:solidFill>
              </a:rPr>
              <a:t>Saved per question</a:t>
            </a:r>
          </a:p>
        </p:txBody>
      </p:sp>
      <p:sp>
        <p:nvSpPr>
          <p:cNvPr id="17" name="TextBox 16"/>
          <p:cNvSpPr txBox="1"/>
          <p:nvPr/>
        </p:nvSpPr>
        <p:spPr>
          <a:xfrm>
            <a:off x="3785616" y="4498848"/>
            <a:ext cx="1645920" cy="384048"/>
          </a:xfrm>
          <a:prstGeom prst="rect">
            <a:avLst/>
          </a:prstGeom>
          <a:noFill/>
        </p:spPr>
        <p:txBody>
          <a:bodyPr wrap="square" lIns="0" rIns="0" tIns="0" bIns="0" anchor="t">
            <a:spAutoFit/>
          </a:bodyPr>
          <a:lstStyle/>
          <a:p>
            <a:pPr algn="l">
              <a:lnSpc>
                <a:spcPct val="100000"/>
              </a:lnSpc>
              <a:spcAft>
                <a:spcPts val="0"/>
              </a:spcAft>
            </a:pPr>
            <a:r>
              <a:rPr sz="2400" b="1">
                <a:solidFill>
                  <a:srgbClr val="8E9995"/>
                </a:solidFill>
              </a:rPr>
              <a:t>946</a:t>
            </a:r>
          </a:p>
        </p:txBody>
      </p:sp>
      <p:sp>
        <p:nvSpPr>
          <p:cNvPr id="18" name="Rounded Rectangle 17"/>
          <p:cNvSpPr/>
          <p:nvPr/>
        </p:nvSpPr>
        <p:spPr>
          <a:xfrm>
            <a:off x="6025896" y="2212848"/>
            <a:ext cx="5193792" cy="2889504"/>
          </a:xfrm>
          <a:prstGeom prst="roundRect">
            <a:avLst>
              <a:gd name="adj" fmla="val 4500"/>
            </a:avLst>
          </a:prstGeom>
          <a:solidFill>
            <a:srgbClr val="101313"/>
          </a:solidFill>
          <a:ln w="12700">
            <a:solidFill>
              <a:srgbClr val="2C343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336792" y="2450592"/>
            <a:ext cx="3108960" cy="329184"/>
          </a:xfrm>
          <a:prstGeom prst="rect">
            <a:avLst/>
          </a:prstGeom>
          <a:noFill/>
        </p:spPr>
        <p:txBody>
          <a:bodyPr wrap="square" lIns="0" rIns="0" tIns="0" bIns="0" anchor="t">
            <a:spAutoFit/>
          </a:bodyPr>
          <a:lstStyle/>
          <a:p>
            <a:pPr algn="l">
              <a:lnSpc>
                <a:spcPct val="115000"/>
              </a:lnSpc>
              <a:spcAft>
                <a:spcPts val="0"/>
              </a:spcAft>
            </a:pPr>
            <a:r>
              <a:rPr sz="2000" b="1">
                <a:solidFill>
                  <a:srgbClr val="EDF3EC"/>
                </a:solidFill>
              </a:rPr>
              <a:t>8 MEMORIES</a:t>
            </a:r>
          </a:p>
        </p:txBody>
      </p:sp>
      <p:sp>
        <p:nvSpPr>
          <p:cNvPr id="20" name="TextBox 19"/>
          <p:cNvSpPr txBox="1"/>
          <p:nvPr/>
        </p:nvSpPr>
        <p:spPr>
          <a:xfrm>
            <a:off x="6336792" y="2798064"/>
            <a:ext cx="3291840" cy="237744"/>
          </a:xfrm>
          <a:prstGeom prst="rect">
            <a:avLst/>
          </a:prstGeom>
          <a:noFill/>
        </p:spPr>
        <p:txBody>
          <a:bodyPr wrap="square" lIns="0" rIns="0" tIns="0" bIns="0" anchor="t">
            <a:spAutoFit/>
          </a:bodyPr>
          <a:lstStyle/>
          <a:p>
            <a:pPr algn="l">
              <a:lnSpc>
                <a:spcPct val="115000"/>
              </a:lnSpc>
              <a:spcAft>
                <a:spcPts val="0"/>
              </a:spcAft>
            </a:pPr>
            <a:r>
              <a:rPr sz="950" b="1" spc="80">
                <a:solidFill>
                  <a:srgbClr val="5F6A66"/>
                </a:solidFill>
              </a:rPr>
              <a:t>LATER RUNS  ·  n=3</a:t>
            </a:r>
          </a:p>
        </p:txBody>
      </p:sp>
      <p:sp>
        <p:nvSpPr>
          <p:cNvPr id="21" name="TextBox 20"/>
          <p:cNvSpPr txBox="1"/>
          <p:nvPr/>
        </p:nvSpPr>
        <p:spPr>
          <a:xfrm>
            <a:off x="6336792" y="3218688"/>
            <a:ext cx="1737360" cy="237744"/>
          </a:xfrm>
          <a:prstGeom prst="rect">
            <a:avLst/>
          </a:prstGeom>
          <a:noFill/>
        </p:spPr>
        <p:txBody>
          <a:bodyPr wrap="square" lIns="0" rIns="0" tIns="0" bIns="0" anchor="t">
            <a:spAutoFit/>
          </a:bodyPr>
          <a:lstStyle/>
          <a:p>
            <a:pPr algn="l">
              <a:lnSpc>
                <a:spcPct val="115000"/>
              </a:lnSpc>
              <a:spcAft>
                <a:spcPts val="0"/>
              </a:spcAft>
            </a:pPr>
            <a:r>
              <a:rPr sz="1150" b="0">
                <a:solidFill>
                  <a:srgbClr val="8E9995"/>
                </a:solidFill>
              </a:rPr>
              <a:t>Full context</a:t>
            </a:r>
          </a:p>
        </p:txBody>
      </p:sp>
      <p:sp>
        <p:nvSpPr>
          <p:cNvPr id="22" name="Rounded Rectangle 21"/>
          <p:cNvSpPr/>
          <p:nvPr/>
        </p:nvSpPr>
        <p:spPr>
          <a:xfrm>
            <a:off x="7781544" y="3236976"/>
            <a:ext cx="2331720" cy="182880"/>
          </a:xfrm>
          <a:prstGeom prst="roundRect">
            <a:avLst>
              <a:gd name="adj" fmla="val 50000"/>
            </a:avLst>
          </a:prstGeom>
          <a:solidFill>
            <a:srgbClr val="3A43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10250424" y="3200400"/>
            <a:ext cx="914400" cy="237744"/>
          </a:xfrm>
          <a:prstGeom prst="rect">
            <a:avLst/>
          </a:prstGeom>
          <a:noFill/>
        </p:spPr>
        <p:txBody>
          <a:bodyPr wrap="square" lIns="0" rIns="0" tIns="0" bIns="0" anchor="t">
            <a:spAutoFit/>
          </a:bodyPr>
          <a:lstStyle/>
          <a:p>
            <a:pPr algn="l">
              <a:lnSpc>
                <a:spcPct val="115000"/>
              </a:lnSpc>
              <a:spcAft>
                <a:spcPts val="0"/>
              </a:spcAft>
            </a:pPr>
            <a:r>
              <a:rPr sz="1150" b="1">
                <a:solidFill>
                  <a:srgbClr val="EDF3EC"/>
                </a:solidFill>
              </a:rPr>
              <a:t>2,487</a:t>
            </a:r>
          </a:p>
        </p:txBody>
      </p:sp>
      <p:sp>
        <p:nvSpPr>
          <p:cNvPr id="24" name="TextBox 23"/>
          <p:cNvSpPr txBox="1"/>
          <p:nvPr/>
        </p:nvSpPr>
        <p:spPr>
          <a:xfrm>
            <a:off x="6336792" y="3785615"/>
            <a:ext cx="1737360" cy="237744"/>
          </a:xfrm>
          <a:prstGeom prst="rect">
            <a:avLst/>
          </a:prstGeom>
          <a:noFill/>
        </p:spPr>
        <p:txBody>
          <a:bodyPr wrap="square" lIns="0" rIns="0" tIns="0" bIns="0" anchor="t">
            <a:spAutoFit/>
          </a:bodyPr>
          <a:lstStyle/>
          <a:p>
            <a:pPr algn="l">
              <a:lnSpc>
                <a:spcPct val="115000"/>
              </a:lnSpc>
              <a:spcAft>
                <a:spcPts val="0"/>
              </a:spcAft>
            </a:pPr>
            <a:r>
              <a:rPr sz="1150" b="0">
                <a:solidFill>
                  <a:srgbClr val="8E9995"/>
                </a:solidFill>
              </a:rPr>
              <a:t>KnowU sends</a:t>
            </a:r>
          </a:p>
        </p:txBody>
      </p:sp>
      <p:sp>
        <p:nvSpPr>
          <p:cNvPr id="25" name="Rounded Rectangle 24"/>
          <p:cNvSpPr/>
          <p:nvPr/>
        </p:nvSpPr>
        <p:spPr>
          <a:xfrm>
            <a:off x="7781544" y="3803903"/>
            <a:ext cx="944126" cy="182880"/>
          </a:xfrm>
          <a:prstGeom prst="roundRect">
            <a:avLst>
              <a:gd name="adj" fmla="val 50000"/>
            </a:avLst>
          </a:prstGeom>
          <a:solidFill>
            <a:srgbClr val="B7FF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10250424" y="3767328"/>
            <a:ext cx="914400" cy="237744"/>
          </a:xfrm>
          <a:prstGeom prst="rect">
            <a:avLst/>
          </a:prstGeom>
          <a:noFill/>
        </p:spPr>
        <p:txBody>
          <a:bodyPr wrap="square" lIns="0" rIns="0" tIns="0" bIns="0" anchor="t">
            <a:spAutoFit/>
          </a:bodyPr>
          <a:lstStyle/>
          <a:p>
            <a:pPr algn="l">
              <a:lnSpc>
                <a:spcPct val="115000"/>
              </a:lnSpc>
              <a:spcAft>
                <a:spcPts val="0"/>
              </a:spcAft>
            </a:pPr>
            <a:r>
              <a:rPr sz="1150" b="1">
                <a:solidFill>
                  <a:srgbClr val="EDF3EC"/>
                </a:solidFill>
              </a:rPr>
              <a:t>1,007</a:t>
            </a:r>
          </a:p>
        </p:txBody>
      </p:sp>
      <p:sp>
        <p:nvSpPr>
          <p:cNvPr id="27" name="Rectangle 26"/>
          <p:cNvSpPr/>
          <p:nvPr/>
        </p:nvSpPr>
        <p:spPr>
          <a:xfrm>
            <a:off x="6336792" y="4443984"/>
            <a:ext cx="4572000" cy="0"/>
          </a:xfrm>
          <a:prstGeom prst="rect">
            <a:avLst/>
          </a:prstGeom>
          <a:noFill/>
          <a:ln w="12700">
            <a:solidFill>
              <a:srgbClr val="293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36792" y="4590288"/>
            <a:ext cx="2743200" cy="310896"/>
          </a:xfrm>
          <a:prstGeom prst="rect">
            <a:avLst/>
          </a:prstGeom>
          <a:noFill/>
        </p:spPr>
        <p:txBody>
          <a:bodyPr wrap="square" lIns="0" rIns="0" tIns="0" bIns="0" anchor="t">
            <a:spAutoFit/>
          </a:bodyPr>
          <a:lstStyle/>
          <a:p>
            <a:pPr algn="l">
              <a:lnSpc>
                <a:spcPct val="115000"/>
              </a:lnSpc>
              <a:spcAft>
                <a:spcPts val="0"/>
              </a:spcAft>
            </a:pPr>
            <a:r>
              <a:rPr sz="1200" b="0">
                <a:solidFill>
                  <a:srgbClr val="8E9995"/>
                </a:solidFill>
              </a:rPr>
              <a:t>Saved per question</a:t>
            </a:r>
          </a:p>
        </p:txBody>
      </p:sp>
      <p:sp>
        <p:nvSpPr>
          <p:cNvPr id="29" name="TextBox 28"/>
          <p:cNvSpPr txBox="1"/>
          <p:nvPr/>
        </p:nvSpPr>
        <p:spPr>
          <a:xfrm>
            <a:off x="9317736" y="4498848"/>
            <a:ext cx="1645920" cy="384048"/>
          </a:xfrm>
          <a:prstGeom prst="rect">
            <a:avLst/>
          </a:prstGeom>
          <a:noFill/>
        </p:spPr>
        <p:txBody>
          <a:bodyPr wrap="square" lIns="0" rIns="0" tIns="0" bIns="0" anchor="t">
            <a:spAutoFit/>
          </a:bodyPr>
          <a:lstStyle/>
          <a:p>
            <a:pPr algn="l">
              <a:lnSpc>
                <a:spcPct val="100000"/>
              </a:lnSpc>
              <a:spcAft>
                <a:spcPts val="0"/>
              </a:spcAft>
            </a:pPr>
            <a:r>
              <a:rPr sz="2400" b="1">
                <a:solidFill>
                  <a:srgbClr val="B7FF3C"/>
                </a:solidFill>
              </a:rPr>
              <a:t>1,480</a:t>
            </a:r>
          </a:p>
        </p:txBody>
      </p:sp>
      <p:sp>
        <p:nvSpPr>
          <p:cNvPr id="30" name="Rounded Rectangle 29"/>
          <p:cNvSpPr/>
          <p:nvPr/>
        </p:nvSpPr>
        <p:spPr>
          <a:xfrm>
            <a:off x="493776" y="5285232"/>
            <a:ext cx="10725912" cy="786384"/>
          </a:xfrm>
          <a:prstGeom prst="roundRect">
            <a:avLst>
              <a:gd name="adj" fmla="val 4500"/>
            </a:avLst>
          </a:prstGeom>
          <a:solidFill>
            <a:srgbClr val="141818"/>
          </a:solidFill>
          <a:ln w="12700">
            <a:solidFill>
              <a:srgbClr val="B7FF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68096" y="5468112"/>
            <a:ext cx="1737360" cy="438912"/>
          </a:xfrm>
          <a:prstGeom prst="rect">
            <a:avLst/>
          </a:prstGeom>
          <a:noFill/>
        </p:spPr>
        <p:txBody>
          <a:bodyPr wrap="square" lIns="0" rIns="0" tIns="0" bIns="0" anchor="t">
            <a:spAutoFit/>
          </a:bodyPr>
          <a:lstStyle/>
          <a:p>
            <a:pPr algn="l">
              <a:lnSpc>
                <a:spcPct val="100000"/>
              </a:lnSpc>
              <a:spcAft>
                <a:spcPts val="0"/>
              </a:spcAft>
            </a:pPr>
            <a:r>
              <a:rPr sz="2600" b="1">
                <a:solidFill>
                  <a:srgbClr val="B7FF3C"/>
                </a:solidFill>
              </a:rPr>
              <a:t>+56%</a:t>
            </a:r>
          </a:p>
        </p:txBody>
      </p:sp>
      <p:sp>
        <p:nvSpPr>
          <p:cNvPr id="32" name="TextBox 31"/>
          <p:cNvSpPr txBox="1"/>
          <p:nvPr/>
        </p:nvSpPr>
        <p:spPr>
          <a:xfrm>
            <a:off x="2157984" y="5449824"/>
            <a:ext cx="8778240" cy="512064"/>
          </a:xfrm>
          <a:prstGeom prst="rect">
            <a:avLst/>
          </a:prstGeom>
          <a:noFill/>
        </p:spPr>
        <p:txBody>
          <a:bodyPr wrap="square" lIns="0" rIns="0" tIns="0" bIns="0" anchor="t">
            <a:spAutoFit/>
          </a:bodyPr>
          <a:lstStyle/>
          <a:p>
            <a:pPr algn="l">
              <a:lnSpc>
                <a:spcPct val="130000"/>
              </a:lnSpc>
              <a:spcAft>
                <a:spcPts val="0"/>
              </a:spcAft>
            </a:pPr>
            <a:r>
              <a:rPr sz="1250" b="0">
                <a:solidFill>
                  <a:srgbClr val="EDF3EC"/>
                </a:solidFill>
              </a:rPr>
              <a:t>more tokens saved per question — from the same user, as the memory got deeper.</a:t>
            </a:r>
          </a:p>
          <a:p>
            <a:pPr algn="l">
              <a:lnSpc>
                <a:spcPct val="130000"/>
              </a:lnSpc>
              <a:spcAft>
                <a:spcPts val="0"/>
              </a:spcAft>
            </a:pPr>
            <a:r>
              <a:rPr sz="1250" b="0">
                <a:solidFill>
                  <a:srgbClr val="EDF3EC"/>
                </a:solidFill>
              </a:rPr>
              <a:t>Full context grows with everything you have ever done. KnowU's prompt grows only with what this question needs.</a:t>
            </a:r>
          </a:p>
        </p:txBody>
      </p:sp>
      <p:sp>
        <p:nvSpPr>
          <p:cNvPr id="33" name="TextBox 32"/>
          <p:cNvSpPr txBox="1"/>
          <p:nvPr/>
        </p:nvSpPr>
        <p:spPr>
          <a:xfrm>
            <a:off x="493776" y="6272784"/>
            <a:ext cx="10607040" cy="256032"/>
          </a:xfrm>
          <a:prstGeom prst="rect">
            <a:avLst/>
          </a:prstGeom>
          <a:noFill/>
        </p:spPr>
        <p:txBody>
          <a:bodyPr wrap="square" lIns="0" rIns="0" tIns="0" bIns="0" anchor="t">
            <a:spAutoFit/>
          </a:bodyPr>
          <a:lstStyle/>
          <a:p>
            <a:pPr algn="l">
              <a:lnSpc>
                <a:spcPct val="115000"/>
              </a:lnSpc>
              <a:spcAft>
                <a:spcPts val="0"/>
              </a:spcAft>
            </a:pPr>
            <a:r>
              <a:rPr sz="1100" b="0">
                <a:solidFill>
                  <a:srgbClr val="5F6A66"/>
                </a:solidFill>
              </a:rPr>
              <a:t>The gap is the product. Every additional thing KnowU learns makes the alternative more expensive — and KnowU relatively cheaper.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D0D"/>
        </a:solidFill>
        <a:effectLst/>
      </p:bgPr>
    </p:bg>
    <p:spTree>
      <p:nvGrpSpPr>
        <p:cNvPr id="1" name=""/>
        <p:cNvGrpSpPr/>
        <p:nvPr/>
      </p:nvGrpSpPr>
      <p:grpSpPr/>
      <p:sp>
        <p:nvSpPr>
          <p:cNvPr id="2" name="TextBox 1"/>
          <p:cNvSpPr txBox="1"/>
          <p:nvPr/>
        </p:nvSpPr>
        <p:spPr>
          <a:xfrm>
            <a:off x="11292840" y="6382512"/>
            <a:ext cx="548640" cy="228600"/>
          </a:xfrm>
          <a:prstGeom prst="rect">
            <a:avLst/>
          </a:prstGeom>
          <a:noFill/>
        </p:spPr>
        <p:txBody>
          <a:bodyPr wrap="square" lIns="0" rIns="0" tIns="0" bIns="0" anchor="t">
            <a:spAutoFit/>
          </a:bodyPr>
          <a:lstStyle/>
          <a:p>
            <a:pPr algn="r">
              <a:lnSpc>
                <a:spcPct val="115000"/>
              </a:lnSpc>
              <a:spcAft>
                <a:spcPts val="0"/>
              </a:spcAft>
            </a:pPr>
            <a:r>
              <a:rPr sz="1100" b="0">
                <a:solidFill>
                  <a:srgbClr val="5F6A66"/>
                </a:solidFill>
              </a:rPr>
              <a:t>07</a:t>
            </a:r>
          </a:p>
        </p:txBody>
      </p:sp>
      <p:sp>
        <p:nvSpPr>
          <p:cNvPr id="3" name="TextBox 2"/>
          <p:cNvSpPr txBox="1"/>
          <p:nvPr/>
        </p:nvSpPr>
        <p:spPr>
          <a:xfrm>
            <a:off x="493776" y="402336"/>
            <a:ext cx="7315200" cy="274320"/>
          </a:xfrm>
          <a:prstGeom prst="rect">
            <a:avLst/>
          </a:prstGeom>
          <a:noFill/>
        </p:spPr>
        <p:txBody>
          <a:bodyPr wrap="square" lIns="0" rIns="0" tIns="0" bIns="0" anchor="t">
            <a:spAutoFit/>
          </a:bodyPr>
          <a:lstStyle/>
          <a:p>
            <a:pPr algn="l">
              <a:lnSpc>
                <a:spcPct val="115000"/>
              </a:lnSpc>
              <a:spcAft>
                <a:spcPts val="0"/>
              </a:spcAft>
            </a:pPr>
            <a:r>
              <a:rPr sz="1250" b="1" spc="110">
                <a:solidFill>
                  <a:srgbClr val="B7FF3C"/>
                </a:solidFill>
              </a:rPr>
              <a:t>TRUST</a:t>
            </a:r>
          </a:p>
        </p:txBody>
      </p:sp>
      <p:sp>
        <p:nvSpPr>
          <p:cNvPr id="4" name="TextBox 3"/>
          <p:cNvSpPr txBox="1"/>
          <p:nvPr/>
        </p:nvSpPr>
        <p:spPr>
          <a:xfrm>
            <a:off x="493776" y="786384"/>
            <a:ext cx="10698480" cy="868680"/>
          </a:xfrm>
          <a:prstGeom prst="rect">
            <a:avLst/>
          </a:prstGeom>
          <a:noFill/>
        </p:spPr>
        <p:txBody>
          <a:bodyPr wrap="square" lIns="0" rIns="0" tIns="0" bIns="0" anchor="t">
            <a:spAutoFit/>
          </a:bodyPr>
          <a:lstStyle/>
          <a:p>
            <a:pPr algn="l">
              <a:lnSpc>
                <a:spcPct val="106000"/>
              </a:lnSpc>
              <a:spcAft>
                <a:spcPts val="0"/>
              </a:spcAft>
            </a:pPr>
            <a:r>
              <a:rPr sz="3400" b="1">
                <a:solidFill>
                  <a:srgbClr val="EDF3EC"/>
                </a:solidFill>
              </a:rPr>
              <a:t>Auditable by the user — not just by us.</a:t>
            </a:r>
          </a:p>
        </p:txBody>
      </p:sp>
      <p:sp>
        <p:nvSpPr>
          <p:cNvPr id="5" name="TextBox 4"/>
          <p:cNvSpPr txBox="1"/>
          <p:nvPr/>
        </p:nvSpPr>
        <p:spPr>
          <a:xfrm>
            <a:off x="493776" y="1810512"/>
            <a:ext cx="4114800" cy="365760"/>
          </a:xfrm>
          <a:prstGeom prst="rect">
            <a:avLst/>
          </a:prstGeom>
          <a:noFill/>
        </p:spPr>
        <p:txBody>
          <a:bodyPr wrap="square" lIns="0" rIns="0" tIns="0" bIns="0" anchor="t">
            <a:spAutoFit/>
          </a:bodyPr>
          <a:lstStyle/>
          <a:p>
            <a:pPr algn="l">
              <a:lnSpc>
                <a:spcPct val="115000"/>
              </a:lnSpc>
              <a:spcAft>
                <a:spcPts val="0"/>
              </a:spcAft>
            </a:pPr>
            <a:r>
              <a:rPr sz="1900" b="1">
                <a:solidFill>
                  <a:srgbClr val="EDF3EC"/>
                </a:solidFill>
              </a:rPr>
              <a:t>One question reveals:</a:t>
            </a:r>
          </a:p>
        </p:txBody>
      </p:sp>
      <p:sp>
        <p:nvSpPr>
          <p:cNvPr id="6" name="Oval 5"/>
          <p:cNvSpPr/>
          <p:nvPr/>
        </p:nvSpPr>
        <p:spPr>
          <a:xfrm>
            <a:off x="530352" y="2478024"/>
            <a:ext cx="100584" cy="100584"/>
          </a:xfrm>
          <a:prstGeom prst="ellipse">
            <a:avLst/>
          </a:prstGeom>
          <a:solidFill>
            <a:srgbClr val="5F6A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22960" y="2359152"/>
            <a:ext cx="3703320" cy="566928"/>
          </a:xfrm>
          <a:prstGeom prst="rect">
            <a:avLst/>
          </a:prstGeom>
          <a:noFill/>
        </p:spPr>
        <p:txBody>
          <a:bodyPr wrap="square" lIns="0" rIns="0" tIns="0" bIns="0" anchor="t">
            <a:spAutoFit/>
          </a:bodyPr>
          <a:lstStyle/>
          <a:p>
            <a:pPr algn="l">
              <a:lnSpc>
                <a:spcPct val="125000"/>
              </a:lnSpc>
              <a:spcAft>
                <a:spcPts val="0"/>
              </a:spcAft>
            </a:pPr>
            <a:r>
              <a:rPr sz="1350" b="0">
                <a:solidFill>
                  <a:srgbClr val="8E9995"/>
                </a:solidFill>
              </a:rPr>
              <a:t>which approved memories EverOS returned</a:t>
            </a:r>
          </a:p>
        </p:txBody>
      </p:sp>
      <p:sp>
        <p:nvSpPr>
          <p:cNvPr id="8" name="Oval 7"/>
          <p:cNvSpPr/>
          <p:nvPr/>
        </p:nvSpPr>
        <p:spPr>
          <a:xfrm>
            <a:off x="530352" y="3191256"/>
            <a:ext cx="100584" cy="100584"/>
          </a:xfrm>
          <a:prstGeom prst="ellipse">
            <a:avLst/>
          </a:prstGeom>
          <a:solidFill>
            <a:srgbClr val="5F6A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2960" y="3072384"/>
            <a:ext cx="3703320" cy="566928"/>
          </a:xfrm>
          <a:prstGeom prst="rect">
            <a:avLst/>
          </a:prstGeom>
          <a:noFill/>
        </p:spPr>
        <p:txBody>
          <a:bodyPr wrap="square" lIns="0" rIns="0" tIns="0" bIns="0" anchor="t">
            <a:spAutoFit/>
          </a:bodyPr>
          <a:lstStyle/>
          <a:p>
            <a:pPr algn="l">
              <a:lnSpc>
                <a:spcPct val="125000"/>
              </a:lnSpc>
              <a:spcAft>
                <a:spcPts val="0"/>
              </a:spcAft>
            </a:pPr>
            <a:r>
              <a:rPr sz="1350" b="0">
                <a:solidFill>
                  <a:srgbClr val="8E9995"/>
                </a:solidFill>
              </a:rPr>
              <a:t>which selected evidence fit the token budget</a:t>
            </a:r>
          </a:p>
        </p:txBody>
      </p:sp>
      <p:sp>
        <p:nvSpPr>
          <p:cNvPr id="10" name="Oval 9"/>
          <p:cNvSpPr/>
          <p:nvPr/>
        </p:nvSpPr>
        <p:spPr>
          <a:xfrm>
            <a:off x="530352" y="3904488"/>
            <a:ext cx="100584" cy="100584"/>
          </a:xfrm>
          <a:prstGeom prst="ellipse">
            <a:avLst/>
          </a:prstGeom>
          <a:solidFill>
            <a:srgbClr val="B7FF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2960" y="3785616"/>
            <a:ext cx="3703320" cy="566928"/>
          </a:xfrm>
          <a:prstGeom prst="rect">
            <a:avLst/>
          </a:prstGeom>
          <a:noFill/>
        </p:spPr>
        <p:txBody>
          <a:bodyPr wrap="square" lIns="0" rIns="0" tIns="0" bIns="0" anchor="t">
            <a:spAutoFit/>
          </a:bodyPr>
          <a:lstStyle/>
          <a:p>
            <a:pPr algn="l">
              <a:lnSpc>
                <a:spcPct val="125000"/>
              </a:lnSpc>
              <a:spcAft>
                <a:spcPts val="0"/>
              </a:spcAft>
            </a:pPr>
            <a:r>
              <a:rPr sz="1350" b="1">
                <a:solidFill>
                  <a:srgbClr val="EDF3EC"/>
                </a:solidFill>
              </a:rPr>
              <a:t>how Full Context compares with KnowU Context</a:t>
            </a:r>
          </a:p>
        </p:txBody>
      </p:sp>
      <p:sp>
        <p:nvSpPr>
          <p:cNvPr id="12" name="Oval 11"/>
          <p:cNvSpPr/>
          <p:nvPr/>
        </p:nvSpPr>
        <p:spPr>
          <a:xfrm>
            <a:off x="530352" y="4617720"/>
            <a:ext cx="100584" cy="100584"/>
          </a:xfrm>
          <a:prstGeom prst="ellipse">
            <a:avLst/>
          </a:prstGeom>
          <a:solidFill>
            <a:srgbClr val="5F6A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22960" y="4498848"/>
            <a:ext cx="3703320" cy="566928"/>
          </a:xfrm>
          <a:prstGeom prst="rect">
            <a:avLst/>
          </a:prstGeom>
          <a:noFill/>
        </p:spPr>
        <p:txBody>
          <a:bodyPr wrap="square" lIns="0" rIns="0" tIns="0" bIns="0" anchor="t">
            <a:spAutoFit/>
          </a:bodyPr>
          <a:lstStyle/>
          <a:p>
            <a:pPr algn="l">
              <a:lnSpc>
                <a:spcPct val="125000"/>
              </a:lnSpc>
              <a:spcAft>
                <a:spcPts val="0"/>
              </a:spcAft>
            </a:pPr>
            <a:r>
              <a:rPr sz="1350" b="0">
                <a:solidFill>
                  <a:srgbClr val="8E9995"/>
                </a:solidFill>
              </a:rPr>
              <a:t>how the tokens were counted, and by whom</a:t>
            </a:r>
          </a:p>
        </p:txBody>
      </p:sp>
      <p:sp>
        <p:nvSpPr>
          <p:cNvPr id="14" name="Rounded Rectangle 13"/>
          <p:cNvSpPr/>
          <p:nvPr/>
        </p:nvSpPr>
        <p:spPr>
          <a:xfrm>
            <a:off x="493776" y="5230368"/>
            <a:ext cx="4041648" cy="859536"/>
          </a:xfrm>
          <a:prstGeom prst="roundRect">
            <a:avLst>
              <a:gd name="adj" fmla="val 4500"/>
            </a:avLst>
          </a:prstGeom>
          <a:solidFill>
            <a:srgbClr val="101313"/>
          </a:solidFill>
          <a:ln w="12700">
            <a:solidFill>
              <a:srgbClr val="2930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13232" y="5376672"/>
            <a:ext cx="3657600" cy="566928"/>
          </a:xfrm>
          <a:prstGeom prst="rect">
            <a:avLst/>
          </a:prstGeom>
          <a:noFill/>
        </p:spPr>
        <p:txBody>
          <a:bodyPr wrap="square" lIns="0" rIns="0" tIns="0" bIns="0" anchor="t">
            <a:spAutoFit/>
          </a:bodyPr>
          <a:lstStyle/>
          <a:p>
            <a:pPr algn="l">
              <a:lnSpc>
                <a:spcPct val="130000"/>
              </a:lnSpc>
              <a:spcAft>
                <a:spcPts val="0"/>
              </a:spcAft>
            </a:pPr>
            <a:r>
              <a:rPr sz="1150" b="0">
                <a:solidFill>
                  <a:srgbClr val="8E9995"/>
                </a:solidFill>
              </a:rPr>
              <a:t>The baseline is comparison-only. The optimized prompt is the single path that produces the answer.</a:t>
            </a:r>
          </a:p>
        </p:txBody>
      </p:sp>
      <p:sp>
        <p:nvSpPr>
          <p:cNvPr id="16" name="Rounded Rectangle 15"/>
          <p:cNvSpPr/>
          <p:nvPr/>
        </p:nvSpPr>
        <p:spPr>
          <a:xfrm>
            <a:off x="4828032" y="1700784"/>
            <a:ext cx="6391656" cy="4087368"/>
          </a:xfrm>
          <a:prstGeom prst="roundRect">
            <a:avLst>
              <a:gd name="adj" fmla="val 3000"/>
            </a:avLst>
          </a:prstGeom>
          <a:solidFill>
            <a:srgbClr val="101313"/>
          </a:solidFill>
          <a:ln w="12700">
            <a:solidFill>
              <a:srgbClr val="2930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image2.png"/>
          <p:cNvPicPr>
            <a:picLocks noChangeAspect="1"/>
          </p:cNvPicPr>
          <p:nvPr/>
        </p:nvPicPr>
        <p:blipFill>
          <a:blip r:embed="rId2"/>
          <a:stretch>
            <a:fillRect/>
          </a:stretch>
        </p:blipFill>
        <p:spPr>
          <a:xfrm>
            <a:off x="4946904" y="1819656"/>
            <a:ext cx="6153912" cy="3849624"/>
          </a:xfrm>
          <a:prstGeom prst="rect">
            <a:avLst/>
          </a:prstGeom>
        </p:spPr>
      </p:pic>
      <p:sp>
        <p:nvSpPr>
          <p:cNvPr id="18" name="Rounded Rectangle 17"/>
          <p:cNvSpPr/>
          <p:nvPr/>
        </p:nvSpPr>
        <p:spPr>
          <a:xfrm>
            <a:off x="4828032" y="5943600"/>
            <a:ext cx="6391656" cy="493776"/>
          </a:xfrm>
          <a:prstGeom prst="roundRect">
            <a:avLst>
              <a:gd name="adj" fmla="val 4500"/>
            </a:avLst>
          </a:prstGeom>
          <a:solidFill>
            <a:srgbClr val="141818"/>
          </a:solidFill>
          <a:ln w="12700">
            <a:solidFill>
              <a:srgbClr val="2930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029200" y="6089904"/>
            <a:ext cx="6035040" cy="237744"/>
          </a:xfrm>
          <a:prstGeom prst="rect">
            <a:avLst/>
          </a:prstGeom>
          <a:noFill/>
        </p:spPr>
        <p:txBody>
          <a:bodyPr wrap="square" lIns="0" rIns="0" tIns="0" bIns="0" anchor="t">
            <a:spAutoFit/>
          </a:bodyPr>
          <a:lstStyle/>
          <a:p>
            <a:pPr algn="l">
              <a:lnSpc>
                <a:spcPct val="115000"/>
              </a:lnSpc>
              <a:spcAft>
                <a:spcPts val="0"/>
              </a:spcAft>
            </a:pPr>
            <a:r>
              <a:rPr sz="1000" b="0">
                <a:solidFill>
                  <a:srgbClr val="8E9995"/>
                </a:solidFill>
              </a:rPr>
              <a:t>Context Economics  ·  retrieved memories, packed units, and the token comparison, in-product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D0D"/>
        </a:solidFill>
        <a:effectLst/>
      </p:bgPr>
    </p:bg>
    <p:spTree>
      <p:nvGrpSpPr>
        <p:cNvPr id="1" name=""/>
        <p:cNvGrpSpPr/>
        <p:nvPr/>
      </p:nvGrpSpPr>
      <p:grpSpPr/>
      <p:sp>
        <p:nvSpPr>
          <p:cNvPr id="2" name="TextBox 1"/>
          <p:cNvSpPr txBox="1"/>
          <p:nvPr/>
        </p:nvSpPr>
        <p:spPr>
          <a:xfrm>
            <a:off x="11292840" y="6382512"/>
            <a:ext cx="548640" cy="228600"/>
          </a:xfrm>
          <a:prstGeom prst="rect">
            <a:avLst/>
          </a:prstGeom>
          <a:noFill/>
        </p:spPr>
        <p:txBody>
          <a:bodyPr wrap="square" lIns="0" rIns="0" tIns="0" bIns="0" anchor="t">
            <a:spAutoFit/>
          </a:bodyPr>
          <a:lstStyle/>
          <a:p>
            <a:pPr algn="r">
              <a:lnSpc>
                <a:spcPct val="115000"/>
              </a:lnSpc>
              <a:spcAft>
                <a:spcPts val="0"/>
              </a:spcAft>
            </a:pPr>
            <a:r>
              <a:rPr sz="1100" b="0">
                <a:solidFill>
                  <a:srgbClr val="5F6A66"/>
                </a:solidFill>
              </a:rPr>
              <a:t>08</a:t>
            </a:r>
          </a:p>
        </p:txBody>
      </p:sp>
      <p:sp>
        <p:nvSpPr>
          <p:cNvPr id="3" name="TextBox 2"/>
          <p:cNvSpPr txBox="1"/>
          <p:nvPr/>
        </p:nvSpPr>
        <p:spPr>
          <a:xfrm>
            <a:off x="493776" y="402336"/>
            <a:ext cx="7315200" cy="274320"/>
          </a:xfrm>
          <a:prstGeom prst="rect">
            <a:avLst/>
          </a:prstGeom>
          <a:noFill/>
        </p:spPr>
        <p:txBody>
          <a:bodyPr wrap="square" lIns="0" rIns="0" tIns="0" bIns="0" anchor="t">
            <a:spAutoFit/>
          </a:bodyPr>
          <a:lstStyle/>
          <a:p>
            <a:pPr algn="l">
              <a:lnSpc>
                <a:spcPct val="115000"/>
              </a:lnSpc>
              <a:spcAft>
                <a:spcPts val="0"/>
              </a:spcAft>
            </a:pPr>
            <a:r>
              <a:rPr sz="1250" b="1" spc="110">
                <a:solidFill>
                  <a:srgbClr val="65CDFD"/>
                </a:solidFill>
              </a:rPr>
              <a:t>THE DATA LAYER</a:t>
            </a:r>
          </a:p>
        </p:txBody>
      </p:sp>
      <p:sp>
        <p:nvSpPr>
          <p:cNvPr id="4" name="TextBox 3"/>
          <p:cNvSpPr txBox="1"/>
          <p:nvPr/>
        </p:nvSpPr>
        <p:spPr>
          <a:xfrm>
            <a:off x="493776" y="786384"/>
            <a:ext cx="10698480" cy="868680"/>
          </a:xfrm>
          <a:prstGeom prst="rect">
            <a:avLst/>
          </a:prstGeom>
          <a:noFill/>
        </p:spPr>
        <p:txBody>
          <a:bodyPr wrap="square" lIns="0" rIns="0" tIns="0" bIns="0" anchor="t">
            <a:spAutoFit/>
          </a:bodyPr>
          <a:lstStyle/>
          <a:p>
            <a:pPr algn="l">
              <a:lnSpc>
                <a:spcPct val="106000"/>
              </a:lnSpc>
              <a:spcAft>
                <a:spcPts val="0"/>
              </a:spcAft>
            </a:pPr>
            <a:r>
              <a:rPr sz="3400" b="1">
                <a:solidFill>
                  <a:srgbClr val="EDF3EC"/>
                </a:solidFill>
              </a:rPr>
              <a:t>Snowflake turns one saving into an auditable trend.</a:t>
            </a:r>
          </a:p>
        </p:txBody>
      </p:sp>
      <p:sp>
        <p:nvSpPr>
          <p:cNvPr id="5" name="TextBox 4"/>
          <p:cNvSpPr txBox="1"/>
          <p:nvPr/>
        </p:nvSpPr>
        <p:spPr>
          <a:xfrm>
            <a:off x="493776" y="1700784"/>
            <a:ext cx="10424160" cy="310896"/>
          </a:xfrm>
          <a:prstGeom prst="rect">
            <a:avLst/>
          </a:prstGeom>
          <a:noFill/>
        </p:spPr>
        <p:txBody>
          <a:bodyPr wrap="square" lIns="0" rIns="0" tIns="0" bIns="0" anchor="t">
            <a:spAutoFit/>
          </a:bodyPr>
          <a:lstStyle/>
          <a:p>
            <a:pPr algn="l">
              <a:lnSpc>
                <a:spcPct val="115000"/>
              </a:lnSpc>
              <a:spcAft>
                <a:spcPts val="0"/>
              </a:spcAft>
            </a:pPr>
            <a:r>
              <a:rPr sz="1400" b="0">
                <a:solidFill>
                  <a:srgbClr val="8E9995"/>
                </a:solidFill>
              </a:rPr>
              <a:t>Every answer writes one aggregate row through the Snowflake SQL API. Nine runs is a demo; the same schema is how you would govern nine million.</a:t>
            </a:r>
          </a:p>
        </p:txBody>
      </p:sp>
      <p:sp>
        <p:nvSpPr>
          <p:cNvPr id="6" name="Rounded Rectangle 5"/>
          <p:cNvSpPr/>
          <p:nvPr/>
        </p:nvSpPr>
        <p:spPr>
          <a:xfrm>
            <a:off x="493776" y="2249424"/>
            <a:ext cx="5230368" cy="3310128"/>
          </a:xfrm>
          <a:prstGeom prst="roundRect">
            <a:avLst>
              <a:gd name="adj" fmla="val 4500"/>
            </a:avLst>
          </a:prstGeom>
          <a:solidFill>
            <a:srgbClr val="101313"/>
          </a:solidFill>
          <a:ln w="12700">
            <a:solidFill>
              <a:srgbClr val="2930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31520" y="2468880"/>
            <a:ext cx="4572000" cy="256032"/>
          </a:xfrm>
          <a:prstGeom prst="rect">
            <a:avLst/>
          </a:prstGeom>
          <a:noFill/>
        </p:spPr>
        <p:txBody>
          <a:bodyPr wrap="square" lIns="0" rIns="0" tIns="0" bIns="0" anchor="t">
            <a:spAutoFit/>
          </a:bodyPr>
          <a:lstStyle/>
          <a:p>
            <a:pPr algn="l">
              <a:lnSpc>
                <a:spcPct val="115000"/>
              </a:lnSpc>
              <a:spcAft>
                <a:spcPts val="0"/>
              </a:spcAft>
            </a:pPr>
            <a:r>
              <a:rPr sz="1300" b="1" spc="90">
                <a:solidFill>
                  <a:srgbClr val="65CDFD"/>
                </a:solidFill>
              </a:rPr>
              <a:t>INFERENCE_RUNS</a:t>
            </a:r>
          </a:p>
        </p:txBody>
      </p:sp>
      <p:sp>
        <p:nvSpPr>
          <p:cNvPr id="8" name="TextBox 7"/>
          <p:cNvSpPr txBox="1"/>
          <p:nvPr/>
        </p:nvSpPr>
        <p:spPr>
          <a:xfrm>
            <a:off x="731520" y="2761488"/>
            <a:ext cx="4754880" cy="237744"/>
          </a:xfrm>
          <a:prstGeom prst="rect">
            <a:avLst/>
          </a:prstGeom>
          <a:noFill/>
        </p:spPr>
        <p:txBody>
          <a:bodyPr wrap="square" lIns="0" rIns="0" tIns="0" bIns="0" anchor="t">
            <a:spAutoFit/>
          </a:bodyPr>
          <a:lstStyle/>
          <a:p>
            <a:pPr algn="l">
              <a:lnSpc>
                <a:spcPct val="115000"/>
              </a:lnSpc>
              <a:spcAft>
                <a:spcPts val="0"/>
              </a:spcAft>
            </a:pPr>
            <a:r>
              <a:rPr sz="1050" b="0">
                <a:solidFill>
                  <a:srgbClr val="5F6A66"/>
                </a:solidFill>
              </a:rPr>
              <a:t>one row per answer</a:t>
            </a:r>
          </a:p>
        </p:txBody>
      </p:sp>
      <p:sp>
        <p:nvSpPr>
          <p:cNvPr id="9" name="Oval 8"/>
          <p:cNvSpPr/>
          <p:nvPr/>
        </p:nvSpPr>
        <p:spPr>
          <a:xfrm>
            <a:off x="749808" y="3227832"/>
            <a:ext cx="50292" cy="50292"/>
          </a:xfrm>
          <a:prstGeom prst="ellipse">
            <a:avLst/>
          </a:prstGeom>
          <a:solidFill>
            <a:srgbClr val="65CD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32688" y="3145536"/>
            <a:ext cx="4572000" cy="237744"/>
          </a:xfrm>
          <a:prstGeom prst="rect">
            <a:avLst/>
          </a:prstGeom>
          <a:noFill/>
        </p:spPr>
        <p:txBody>
          <a:bodyPr wrap="square" lIns="0" rIns="0" tIns="0" bIns="0" anchor="t">
            <a:spAutoFit/>
          </a:bodyPr>
          <a:lstStyle/>
          <a:p>
            <a:pPr algn="l">
              <a:lnSpc>
                <a:spcPct val="115000"/>
              </a:lnSpc>
              <a:spcAft>
                <a:spcPts val="0"/>
              </a:spcAft>
            </a:pPr>
            <a:r>
              <a:rPr sz="1100" b="0">
                <a:solidFill>
                  <a:srgbClr val="8E9995"/>
                </a:solidFill>
              </a:rPr>
              <a:t>model, context strategy, and mode</a:t>
            </a:r>
          </a:p>
        </p:txBody>
      </p:sp>
      <p:sp>
        <p:nvSpPr>
          <p:cNvPr id="11" name="Oval 10"/>
          <p:cNvSpPr/>
          <p:nvPr/>
        </p:nvSpPr>
        <p:spPr>
          <a:xfrm>
            <a:off x="749808" y="3520439"/>
            <a:ext cx="50292" cy="50292"/>
          </a:xfrm>
          <a:prstGeom prst="ellipse">
            <a:avLst/>
          </a:prstGeom>
          <a:solidFill>
            <a:srgbClr val="65CD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32688" y="3438144"/>
            <a:ext cx="4572000" cy="237744"/>
          </a:xfrm>
          <a:prstGeom prst="rect">
            <a:avLst/>
          </a:prstGeom>
          <a:noFill/>
        </p:spPr>
        <p:txBody>
          <a:bodyPr wrap="square" lIns="0" rIns="0" tIns="0" bIns="0" anchor="t">
            <a:spAutoFit/>
          </a:bodyPr>
          <a:lstStyle/>
          <a:p>
            <a:pPr algn="l">
              <a:lnSpc>
                <a:spcPct val="115000"/>
              </a:lnSpc>
              <a:spcAft>
                <a:spcPts val="0"/>
              </a:spcAft>
            </a:pPr>
            <a:r>
              <a:rPr sz="1100" b="0">
                <a:solidFill>
                  <a:srgbClr val="8E9995"/>
                </a:solidFill>
              </a:rPr>
              <a:t>baseline vs optimized input tokens</a:t>
            </a:r>
          </a:p>
        </p:txBody>
      </p:sp>
      <p:sp>
        <p:nvSpPr>
          <p:cNvPr id="13" name="Oval 12"/>
          <p:cNvSpPr/>
          <p:nvPr/>
        </p:nvSpPr>
        <p:spPr>
          <a:xfrm>
            <a:off x="749808" y="3813048"/>
            <a:ext cx="50292" cy="50292"/>
          </a:xfrm>
          <a:prstGeom prst="ellipse">
            <a:avLst/>
          </a:prstGeom>
          <a:solidFill>
            <a:srgbClr val="65CD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32688" y="3730752"/>
            <a:ext cx="4572000" cy="237744"/>
          </a:xfrm>
          <a:prstGeom prst="rect">
            <a:avLst/>
          </a:prstGeom>
          <a:noFill/>
        </p:spPr>
        <p:txBody>
          <a:bodyPr wrap="square" lIns="0" rIns="0" tIns="0" bIns="0" anchor="t">
            <a:spAutoFit/>
          </a:bodyPr>
          <a:lstStyle/>
          <a:p>
            <a:pPr algn="l">
              <a:lnSpc>
                <a:spcPct val="115000"/>
              </a:lnSpc>
              <a:spcAft>
                <a:spcPts val="0"/>
              </a:spcAft>
            </a:pPr>
            <a:r>
              <a:rPr sz="1100" b="0">
                <a:solidFill>
                  <a:srgbClr val="8E9995"/>
                </a:solidFill>
              </a:rPr>
              <a:t>tokens saved and reduction percentage</a:t>
            </a:r>
          </a:p>
        </p:txBody>
      </p:sp>
      <p:sp>
        <p:nvSpPr>
          <p:cNvPr id="15" name="Oval 14"/>
          <p:cNvSpPr/>
          <p:nvPr/>
        </p:nvSpPr>
        <p:spPr>
          <a:xfrm>
            <a:off x="749808" y="4105656"/>
            <a:ext cx="50292" cy="50292"/>
          </a:xfrm>
          <a:prstGeom prst="ellipse">
            <a:avLst/>
          </a:prstGeom>
          <a:solidFill>
            <a:srgbClr val="65CD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932688" y="4023360"/>
            <a:ext cx="4572000" cy="237744"/>
          </a:xfrm>
          <a:prstGeom prst="rect">
            <a:avLst/>
          </a:prstGeom>
          <a:noFill/>
        </p:spPr>
        <p:txBody>
          <a:bodyPr wrap="square" lIns="0" rIns="0" tIns="0" bIns="0" anchor="t">
            <a:spAutoFit/>
          </a:bodyPr>
          <a:lstStyle/>
          <a:p>
            <a:pPr algn="l">
              <a:lnSpc>
                <a:spcPct val="115000"/>
              </a:lnSpc>
              <a:spcAft>
                <a:spcPts val="0"/>
              </a:spcAft>
            </a:pPr>
            <a:r>
              <a:rPr sz="1100" b="0">
                <a:solidFill>
                  <a:srgbClr val="8E9995"/>
                </a:solidFill>
              </a:rPr>
              <a:t>actual provider input/output usage</a:t>
            </a:r>
          </a:p>
        </p:txBody>
      </p:sp>
      <p:sp>
        <p:nvSpPr>
          <p:cNvPr id="17" name="Oval 16"/>
          <p:cNvSpPr/>
          <p:nvPr/>
        </p:nvSpPr>
        <p:spPr>
          <a:xfrm>
            <a:off x="749808" y="4398264"/>
            <a:ext cx="50292" cy="50292"/>
          </a:xfrm>
          <a:prstGeom prst="ellipse">
            <a:avLst/>
          </a:prstGeom>
          <a:solidFill>
            <a:srgbClr val="65CD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32688" y="4315968"/>
            <a:ext cx="4572000" cy="237744"/>
          </a:xfrm>
          <a:prstGeom prst="rect">
            <a:avLst/>
          </a:prstGeom>
          <a:noFill/>
        </p:spPr>
        <p:txBody>
          <a:bodyPr wrap="square" lIns="0" rIns="0" tIns="0" bIns="0" anchor="t">
            <a:spAutoFit/>
          </a:bodyPr>
          <a:lstStyle/>
          <a:p>
            <a:pPr algn="l">
              <a:lnSpc>
                <a:spcPct val="115000"/>
              </a:lnSpc>
              <a:spcAft>
                <a:spcPts val="0"/>
              </a:spcAft>
            </a:pPr>
            <a:r>
              <a:rPr sz="1100" b="0">
                <a:solidFill>
                  <a:srgbClr val="8E9995"/>
                </a:solidFill>
              </a:rPr>
              <a:t>context budget, units sent vs omitted</a:t>
            </a:r>
          </a:p>
        </p:txBody>
      </p:sp>
      <p:sp>
        <p:nvSpPr>
          <p:cNvPr id="19" name="Oval 18"/>
          <p:cNvSpPr/>
          <p:nvPr/>
        </p:nvSpPr>
        <p:spPr>
          <a:xfrm>
            <a:off x="749808" y="4690872"/>
            <a:ext cx="50292" cy="50292"/>
          </a:xfrm>
          <a:prstGeom prst="ellipse">
            <a:avLst/>
          </a:prstGeom>
          <a:solidFill>
            <a:srgbClr val="65CD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932688" y="4608576"/>
            <a:ext cx="4572000" cy="237744"/>
          </a:xfrm>
          <a:prstGeom prst="rect">
            <a:avLst/>
          </a:prstGeom>
          <a:noFill/>
        </p:spPr>
        <p:txBody>
          <a:bodyPr wrap="square" lIns="0" rIns="0" tIns="0" bIns="0" anchor="t">
            <a:spAutoFit/>
          </a:bodyPr>
          <a:lstStyle/>
          <a:p>
            <a:pPr algn="l">
              <a:lnSpc>
                <a:spcPct val="115000"/>
              </a:lnSpc>
              <a:spcAft>
                <a:spcPts val="0"/>
              </a:spcAft>
            </a:pPr>
            <a:r>
              <a:rPr sz="1100" b="0">
                <a:solidFill>
                  <a:srgbClr val="8E9995"/>
                </a:solidFill>
              </a:rPr>
              <a:t>preflight and prompt-cache token counts</a:t>
            </a:r>
          </a:p>
        </p:txBody>
      </p:sp>
      <p:sp>
        <p:nvSpPr>
          <p:cNvPr id="21" name="Oval 20"/>
          <p:cNvSpPr/>
          <p:nvPr/>
        </p:nvSpPr>
        <p:spPr>
          <a:xfrm>
            <a:off x="749808" y="4983479"/>
            <a:ext cx="50292" cy="50292"/>
          </a:xfrm>
          <a:prstGeom prst="ellipse">
            <a:avLst/>
          </a:prstGeom>
          <a:solidFill>
            <a:srgbClr val="65CD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32688" y="4901183"/>
            <a:ext cx="4572000" cy="237744"/>
          </a:xfrm>
          <a:prstGeom prst="rect">
            <a:avLst/>
          </a:prstGeom>
          <a:noFill/>
        </p:spPr>
        <p:txBody>
          <a:bodyPr wrap="square" lIns="0" rIns="0" tIns="0" bIns="0" anchor="t">
            <a:spAutoFit/>
          </a:bodyPr>
          <a:lstStyle/>
          <a:p>
            <a:pPr algn="l">
              <a:lnSpc>
                <a:spcPct val="115000"/>
              </a:lnSpc>
              <a:spcAft>
                <a:spcPts val="0"/>
              </a:spcAft>
            </a:pPr>
            <a:r>
              <a:rPr sz="1100" b="0">
                <a:solidFill>
                  <a:srgbClr val="8E9995"/>
                </a:solidFill>
              </a:rPr>
              <a:t>latency, memory count, memory provider</a:t>
            </a:r>
          </a:p>
        </p:txBody>
      </p:sp>
      <p:sp>
        <p:nvSpPr>
          <p:cNvPr id="23" name="Oval 22"/>
          <p:cNvSpPr/>
          <p:nvPr/>
        </p:nvSpPr>
        <p:spPr>
          <a:xfrm>
            <a:off x="749808" y="5276088"/>
            <a:ext cx="50292" cy="50292"/>
          </a:xfrm>
          <a:prstGeom prst="ellipse">
            <a:avLst/>
          </a:prstGeom>
          <a:solidFill>
            <a:srgbClr val="65CD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32688" y="5193792"/>
            <a:ext cx="4572000" cy="237744"/>
          </a:xfrm>
          <a:prstGeom prst="rect">
            <a:avLst/>
          </a:prstGeom>
          <a:noFill/>
        </p:spPr>
        <p:txBody>
          <a:bodyPr wrap="square" lIns="0" rIns="0" tIns="0" bIns="0" anchor="t">
            <a:spAutoFit/>
          </a:bodyPr>
          <a:lstStyle/>
          <a:p>
            <a:pPr algn="l">
              <a:lnSpc>
                <a:spcPct val="115000"/>
              </a:lnSpc>
              <a:spcAft>
                <a:spcPts val="0"/>
              </a:spcAft>
            </a:pPr>
            <a:r>
              <a:rPr sz="1100" b="0">
                <a:solidFill>
                  <a:srgbClr val="8E9995"/>
                </a:solidFill>
              </a:rPr>
              <a:t>measurement method and timestamp</a:t>
            </a:r>
          </a:p>
        </p:txBody>
      </p:sp>
      <p:sp>
        <p:nvSpPr>
          <p:cNvPr id="25" name="Rounded Rectangle 24"/>
          <p:cNvSpPr/>
          <p:nvPr/>
        </p:nvSpPr>
        <p:spPr>
          <a:xfrm>
            <a:off x="5989320" y="2249424"/>
            <a:ext cx="5230368" cy="3310128"/>
          </a:xfrm>
          <a:prstGeom prst="roundRect">
            <a:avLst>
              <a:gd name="adj" fmla="val 4500"/>
            </a:avLst>
          </a:prstGeom>
          <a:solidFill>
            <a:srgbClr val="101313"/>
          </a:solidFill>
          <a:ln w="12700">
            <a:solidFill>
              <a:srgbClr val="2930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227064" y="2468880"/>
            <a:ext cx="4572000" cy="256032"/>
          </a:xfrm>
          <a:prstGeom prst="rect">
            <a:avLst/>
          </a:prstGeom>
          <a:noFill/>
        </p:spPr>
        <p:txBody>
          <a:bodyPr wrap="square" lIns="0" rIns="0" tIns="0" bIns="0" anchor="t">
            <a:spAutoFit/>
          </a:bodyPr>
          <a:lstStyle/>
          <a:p>
            <a:pPr algn="l">
              <a:lnSpc>
                <a:spcPct val="115000"/>
              </a:lnSpc>
              <a:spcAft>
                <a:spcPts val="0"/>
              </a:spcAft>
            </a:pPr>
            <a:r>
              <a:rPr sz="1300" b="1" spc="90">
                <a:solidFill>
                  <a:srgbClr val="65CDFD"/>
                </a:solidFill>
              </a:rPr>
              <a:t>CONTEXT_ECONOMICS_SUMMARY</a:t>
            </a:r>
          </a:p>
        </p:txBody>
      </p:sp>
      <p:sp>
        <p:nvSpPr>
          <p:cNvPr id="27" name="TextBox 26"/>
          <p:cNvSpPr txBox="1"/>
          <p:nvPr/>
        </p:nvSpPr>
        <p:spPr>
          <a:xfrm>
            <a:off x="6227064" y="2761488"/>
            <a:ext cx="4754880" cy="237744"/>
          </a:xfrm>
          <a:prstGeom prst="rect">
            <a:avLst/>
          </a:prstGeom>
          <a:noFill/>
        </p:spPr>
        <p:txBody>
          <a:bodyPr wrap="square" lIns="0" rIns="0" tIns="0" bIns="0" anchor="t">
            <a:spAutoFit/>
          </a:bodyPr>
          <a:lstStyle/>
          <a:p>
            <a:pPr algn="l">
              <a:lnSpc>
                <a:spcPct val="115000"/>
              </a:lnSpc>
              <a:spcAft>
                <a:spcPts val="0"/>
              </a:spcAft>
            </a:pPr>
            <a:r>
              <a:rPr sz="1050" b="0">
                <a:solidFill>
                  <a:srgbClr val="5F6A66"/>
                </a:solidFill>
              </a:rPr>
              <a:t>the aggregate view</a:t>
            </a:r>
          </a:p>
        </p:txBody>
      </p:sp>
      <p:sp>
        <p:nvSpPr>
          <p:cNvPr id="28" name="TextBox 27"/>
          <p:cNvSpPr txBox="1"/>
          <p:nvPr/>
        </p:nvSpPr>
        <p:spPr>
          <a:xfrm>
            <a:off x="6227064" y="3182112"/>
            <a:ext cx="2011680" cy="365760"/>
          </a:xfrm>
          <a:prstGeom prst="rect">
            <a:avLst/>
          </a:prstGeom>
          <a:noFill/>
        </p:spPr>
        <p:txBody>
          <a:bodyPr wrap="square" lIns="0" rIns="0" tIns="0" bIns="0" anchor="t">
            <a:spAutoFit/>
          </a:bodyPr>
          <a:lstStyle/>
          <a:p>
            <a:pPr algn="l">
              <a:lnSpc>
                <a:spcPct val="100000"/>
              </a:lnSpc>
              <a:spcAft>
                <a:spcPts val="0"/>
              </a:spcAft>
            </a:pPr>
            <a:r>
              <a:rPr sz="2200" b="1">
                <a:solidFill>
                  <a:srgbClr val="EDF3EC"/>
                </a:solidFill>
              </a:rPr>
              <a:t>65.5%</a:t>
            </a:r>
          </a:p>
        </p:txBody>
      </p:sp>
      <p:sp>
        <p:nvSpPr>
          <p:cNvPr id="29" name="TextBox 28"/>
          <p:cNvSpPr txBox="1"/>
          <p:nvPr/>
        </p:nvSpPr>
        <p:spPr>
          <a:xfrm>
            <a:off x="8275320" y="3273552"/>
            <a:ext cx="2834640" cy="256032"/>
          </a:xfrm>
          <a:prstGeom prst="rect">
            <a:avLst/>
          </a:prstGeom>
          <a:noFill/>
        </p:spPr>
        <p:txBody>
          <a:bodyPr wrap="square" lIns="0" rIns="0" tIns="0" bIns="0" anchor="t">
            <a:spAutoFit/>
          </a:bodyPr>
          <a:lstStyle/>
          <a:p>
            <a:pPr algn="l">
              <a:lnSpc>
                <a:spcPct val="115000"/>
              </a:lnSpc>
              <a:spcAft>
                <a:spcPts val="0"/>
              </a:spcAft>
            </a:pPr>
            <a:r>
              <a:rPr sz="1100" b="0">
                <a:solidFill>
                  <a:srgbClr val="8E9995"/>
                </a:solidFill>
              </a:rPr>
              <a:t>average reduction to date</a:t>
            </a:r>
          </a:p>
        </p:txBody>
      </p:sp>
      <p:sp>
        <p:nvSpPr>
          <p:cNvPr id="30" name="TextBox 29"/>
          <p:cNvSpPr txBox="1"/>
          <p:nvPr/>
        </p:nvSpPr>
        <p:spPr>
          <a:xfrm>
            <a:off x="6227064" y="3749039"/>
            <a:ext cx="2011680" cy="365760"/>
          </a:xfrm>
          <a:prstGeom prst="rect">
            <a:avLst/>
          </a:prstGeom>
          <a:noFill/>
        </p:spPr>
        <p:txBody>
          <a:bodyPr wrap="square" lIns="0" rIns="0" tIns="0" bIns="0" anchor="t">
            <a:spAutoFit/>
          </a:bodyPr>
          <a:lstStyle/>
          <a:p>
            <a:pPr algn="l">
              <a:lnSpc>
                <a:spcPct val="100000"/>
              </a:lnSpc>
              <a:spcAft>
                <a:spcPts val="0"/>
              </a:spcAft>
            </a:pPr>
            <a:r>
              <a:rPr sz="2200" b="1">
                <a:solidFill>
                  <a:srgbClr val="EDF3EC"/>
                </a:solidFill>
              </a:rPr>
              <a:t>10,119</a:t>
            </a:r>
          </a:p>
        </p:txBody>
      </p:sp>
      <p:sp>
        <p:nvSpPr>
          <p:cNvPr id="31" name="TextBox 30"/>
          <p:cNvSpPr txBox="1"/>
          <p:nvPr/>
        </p:nvSpPr>
        <p:spPr>
          <a:xfrm>
            <a:off x="8275320" y="3840479"/>
            <a:ext cx="2834640" cy="256032"/>
          </a:xfrm>
          <a:prstGeom prst="rect">
            <a:avLst/>
          </a:prstGeom>
          <a:noFill/>
        </p:spPr>
        <p:txBody>
          <a:bodyPr wrap="square" lIns="0" rIns="0" tIns="0" bIns="0" anchor="t">
            <a:spAutoFit/>
          </a:bodyPr>
          <a:lstStyle/>
          <a:p>
            <a:pPr algn="l">
              <a:lnSpc>
                <a:spcPct val="115000"/>
              </a:lnSpc>
              <a:spcAft>
                <a:spcPts val="0"/>
              </a:spcAft>
            </a:pPr>
            <a:r>
              <a:rPr sz="1100" b="0">
                <a:solidFill>
                  <a:srgbClr val="8E9995"/>
                </a:solidFill>
              </a:rPr>
              <a:t>total input tokens avoided</a:t>
            </a:r>
          </a:p>
        </p:txBody>
      </p:sp>
      <p:sp>
        <p:nvSpPr>
          <p:cNvPr id="32" name="TextBox 31"/>
          <p:cNvSpPr txBox="1"/>
          <p:nvPr/>
        </p:nvSpPr>
        <p:spPr>
          <a:xfrm>
            <a:off x="6227064" y="4315968"/>
            <a:ext cx="2011680" cy="365760"/>
          </a:xfrm>
          <a:prstGeom prst="rect">
            <a:avLst/>
          </a:prstGeom>
          <a:noFill/>
        </p:spPr>
        <p:txBody>
          <a:bodyPr wrap="square" lIns="0" rIns="0" tIns="0" bIns="0" anchor="t">
            <a:spAutoFit/>
          </a:bodyPr>
          <a:lstStyle/>
          <a:p>
            <a:pPr algn="l">
              <a:lnSpc>
                <a:spcPct val="100000"/>
              </a:lnSpc>
              <a:spcAft>
                <a:spcPts val="0"/>
              </a:spcAft>
            </a:pPr>
            <a:r>
              <a:rPr sz="2200" b="1">
                <a:solidFill>
                  <a:srgbClr val="EDF3EC"/>
                </a:solidFill>
              </a:rPr>
              <a:t>9</a:t>
            </a:r>
          </a:p>
        </p:txBody>
      </p:sp>
      <p:sp>
        <p:nvSpPr>
          <p:cNvPr id="33" name="TextBox 32"/>
          <p:cNvSpPr txBox="1"/>
          <p:nvPr/>
        </p:nvSpPr>
        <p:spPr>
          <a:xfrm>
            <a:off x="8275320" y="4407407"/>
            <a:ext cx="2834640" cy="256032"/>
          </a:xfrm>
          <a:prstGeom prst="rect">
            <a:avLst/>
          </a:prstGeom>
          <a:noFill/>
        </p:spPr>
        <p:txBody>
          <a:bodyPr wrap="square" lIns="0" rIns="0" tIns="0" bIns="0" anchor="t">
            <a:spAutoFit/>
          </a:bodyPr>
          <a:lstStyle/>
          <a:p>
            <a:pPr algn="l">
              <a:lnSpc>
                <a:spcPct val="115000"/>
              </a:lnSpc>
              <a:spcAft>
                <a:spcPts val="0"/>
              </a:spcAft>
            </a:pPr>
            <a:r>
              <a:rPr sz="1100" b="0">
                <a:solidFill>
                  <a:srgbClr val="8E9995"/>
                </a:solidFill>
              </a:rPr>
              <a:t>runs, daily totals and trend</a:t>
            </a:r>
          </a:p>
        </p:txBody>
      </p:sp>
      <p:sp>
        <p:nvSpPr>
          <p:cNvPr id="34" name="Rectangle 33"/>
          <p:cNvSpPr/>
          <p:nvPr/>
        </p:nvSpPr>
        <p:spPr>
          <a:xfrm>
            <a:off x="6227064" y="4956048"/>
            <a:ext cx="4754880" cy="0"/>
          </a:xfrm>
          <a:prstGeom prst="rect">
            <a:avLst/>
          </a:prstGeom>
          <a:noFill/>
          <a:ln w="12700">
            <a:solidFill>
              <a:srgbClr val="293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27064" y="5102352"/>
            <a:ext cx="4846320" cy="310896"/>
          </a:xfrm>
          <a:prstGeom prst="rect">
            <a:avLst/>
          </a:prstGeom>
          <a:noFill/>
        </p:spPr>
        <p:txBody>
          <a:bodyPr wrap="square" lIns="0" rIns="0" tIns="0" bIns="0" anchor="t">
            <a:spAutoFit/>
          </a:bodyPr>
          <a:lstStyle/>
          <a:p>
            <a:pPr algn="l">
              <a:lnSpc>
                <a:spcPct val="125000"/>
              </a:lnSpc>
              <a:spcAft>
                <a:spcPts val="0"/>
              </a:spcAft>
            </a:pPr>
            <a:r>
              <a:rPr sz="1100" b="0">
                <a:solidFill>
                  <a:srgbClr val="8E9995"/>
                </a:solidFill>
              </a:rPr>
              <a:t>Cost per answer becomes a metric you can chart, alert on, and charge back.</a:t>
            </a:r>
          </a:p>
        </p:txBody>
      </p:sp>
      <p:sp>
        <p:nvSpPr>
          <p:cNvPr id="36" name="Rounded Rectangle 35"/>
          <p:cNvSpPr/>
          <p:nvPr/>
        </p:nvSpPr>
        <p:spPr>
          <a:xfrm>
            <a:off x="493776" y="5687568"/>
            <a:ext cx="10725912" cy="859536"/>
          </a:xfrm>
          <a:prstGeom prst="roundRect">
            <a:avLst>
              <a:gd name="adj" fmla="val 4500"/>
            </a:avLst>
          </a:prstGeom>
          <a:solidFill>
            <a:srgbClr val="141818"/>
          </a:solidFill>
          <a:ln w="12700">
            <a:solidFill>
              <a:srgbClr val="2930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Oval 36"/>
          <p:cNvSpPr/>
          <p:nvPr/>
        </p:nvSpPr>
        <p:spPr>
          <a:xfrm>
            <a:off x="731520" y="5961888"/>
            <a:ext cx="109728" cy="109728"/>
          </a:xfrm>
          <a:prstGeom prst="ellipse">
            <a:avLst/>
          </a:prstGeom>
          <a:solidFill>
            <a:srgbClr val="B7FF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950976" y="5870448"/>
            <a:ext cx="10058400" cy="548640"/>
          </a:xfrm>
          <a:prstGeom prst="rect">
            <a:avLst/>
          </a:prstGeom>
          <a:noFill/>
        </p:spPr>
        <p:txBody>
          <a:bodyPr wrap="square" lIns="0" rIns="0" tIns="0" bIns="0" anchor="t">
            <a:spAutoFit/>
          </a:bodyPr>
          <a:lstStyle/>
          <a:p>
            <a:pPr algn="l">
              <a:lnSpc>
                <a:spcPct val="130000"/>
              </a:lnSpc>
              <a:spcAft>
                <a:spcPts val="0"/>
              </a:spcAft>
            </a:pPr>
            <a:r>
              <a:rPr sz="1150" b="1">
                <a:solidFill>
                  <a:srgbClr val="EDF3EC"/>
                </a:solidFill>
              </a:rPr>
              <a:t>What Snowflake never receives:  </a:t>
            </a:r>
            <a:r>
              <a:rPr sz="1150" b="0">
                <a:solidFill>
                  <a:srgbClr val="8E9995"/>
                </a:solidFill>
              </a:rPr>
              <a:t>the question, the answer, memory text, URLs, window titles, or any raw activity row. Numeric telemetry only, by default —</a:t>
            </a:r>
          </a:p>
          <a:p>
            <a:pPr algn="l">
              <a:lnSpc>
                <a:spcPct val="130000"/>
              </a:lnSpc>
              <a:spcAft>
                <a:spcPts val="0"/>
              </a:spcAft>
            </a:pPr>
            <a:r>
              <a:rPr sz="1150" b="0">
                <a:solidFill>
                  <a:srgbClr val="8E9995"/>
                </a:solidFill>
              </a:rPr>
              <a:t>even optional AI_COUNT_TOKENS counting is off unless it is explicitly turned 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D0D"/>
        </a:solidFill>
        <a:effectLst/>
      </p:bgPr>
    </p:bg>
    <p:spTree>
      <p:nvGrpSpPr>
        <p:cNvPr id="1" name=""/>
        <p:cNvGrpSpPr/>
        <p:nvPr/>
      </p:nvGrpSpPr>
      <p:grpSpPr/>
      <p:sp>
        <p:nvSpPr>
          <p:cNvPr id="2" name="TextBox 1"/>
          <p:cNvSpPr txBox="1"/>
          <p:nvPr/>
        </p:nvSpPr>
        <p:spPr>
          <a:xfrm>
            <a:off x="11292840" y="6382512"/>
            <a:ext cx="548640" cy="228600"/>
          </a:xfrm>
          <a:prstGeom prst="rect">
            <a:avLst/>
          </a:prstGeom>
          <a:noFill/>
        </p:spPr>
        <p:txBody>
          <a:bodyPr wrap="square" lIns="0" rIns="0" tIns="0" bIns="0" anchor="t">
            <a:spAutoFit/>
          </a:bodyPr>
          <a:lstStyle/>
          <a:p>
            <a:pPr algn="r">
              <a:lnSpc>
                <a:spcPct val="115000"/>
              </a:lnSpc>
              <a:spcAft>
                <a:spcPts val="0"/>
              </a:spcAft>
            </a:pPr>
            <a:r>
              <a:rPr sz="1100" b="0">
                <a:solidFill>
                  <a:srgbClr val="5F6A66"/>
                </a:solidFill>
              </a:rPr>
              <a:t>09</a:t>
            </a:r>
          </a:p>
        </p:txBody>
      </p:sp>
      <p:pic>
        <p:nvPicPr>
          <p:cNvPr id="3" name="Picture 2" descr="image3.png"/>
          <p:cNvPicPr>
            <a:picLocks noChangeAspect="1"/>
          </p:cNvPicPr>
          <p:nvPr/>
        </p:nvPicPr>
        <p:blipFill>
          <a:blip r:embed="rId2"/>
          <a:stretch>
            <a:fillRect/>
          </a:stretch>
        </p:blipFill>
        <p:spPr>
          <a:xfrm>
            <a:off x="420624" y="320040"/>
            <a:ext cx="420624" cy="420624"/>
          </a:xfrm>
          <a:prstGeom prst="rect">
            <a:avLst/>
          </a:prstGeom>
        </p:spPr>
      </p:pic>
      <p:sp>
        <p:nvSpPr>
          <p:cNvPr id="4" name="TextBox 3"/>
          <p:cNvSpPr txBox="1"/>
          <p:nvPr/>
        </p:nvSpPr>
        <p:spPr>
          <a:xfrm>
            <a:off x="987552" y="411480"/>
            <a:ext cx="4572000" cy="274320"/>
          </a:xfrm>
          <a:prstGeom prst="rect">
            <a:avLst/>
          </a:prstGeom>
          <a:noFill/>
        </p:spPr>
        <p:txBody>
          <a:bodyPr wrap="square" lIns="0" rIns="0" tIns="0" bIns="0" anchor="t">
            <a:spAutoFit/>
          </a:bodyPr>
          <a:lstStyle/>
          <a:p>
            <a:pPr algn="l">
              <a:lnSpc>
                <a:spcPct val="115000"/>
              </a:lnSpc>
              <a:spcAft>
                <a:spcPts val="0"/>
              </a:spcAft>
            </a:pPr>
            <a:r>
              <a:rPr sz="1300" b="1" spc="110">
                <a:solidFill>
                  <a:srgbClr val="B7FF3C"/>
                </a:solidFill>
              </a:rPr>
              <a:t>KNOWU  /  LIVE DEMO</a:t>
            </a:r>
          </a:p>
        </p:txBody>
      </p:sp>
      <p:sp>
        <p:nvSpPr>
          <p:cNvPr id="5" name="TextBox 4"/>
          <p:cNvSpPr txBox="1"/>
          <p:nvPr/>
        </p:nvSpPr>
        <p:spPr>
          <a:xfrm>
            <a:off x="5733288" y="420624"/>
            <a:ext cx="5486400" cy="256032"/>
          </a:xfrm>
          <a:prstGeom prst="rect">
            <a:avLst/>
          </a:prstGeom>
          <a:noFill/>
        </p:spPr>
        <p:txBody>
          <a:bodyPr wrap="square" lIns="0" rIns="0" tIns="0" bIns="0" anchor="t">
            <a:spAutoFit/>
          </a:bodyPr>
          <a:lstStyle/>
          <a:p>
            <a:pPr algn="r">
              <a:lnSpc>
                <a:spcPct val="115000"/>
              </a:lnSpc>
              <a:spcAft>
                <a:spcPts val="0"/>
              </a:spcAft>
            </a:pPr>
            <a:r>
              <a:rPr sz="950" b="1" spc="80">
                <a:solidFill>
                  <a:srgbClr val="5F6A66"/>
                </a:solidFill>
              </a:rPr>
              <a:t>ONE QUESTION  ·  RETRIEVED MEMORIES  ·  TOKEN COMPARISON</a:t>
            </a:r>
          </a:p>
        </p:txBody>
      </p:sp>
      <p:sp>
        <p:nvSpPr>
          <p:cNvPr id="6" name="Rounded Rectangle 5"/>
          <p:cNvSpPr/>
          <p:nvPr/>
        </p:nvSpPr>
        <p:spPr>
          <a:xfrm>
            <a:off x="493776" y="969264"/>
            <a:ext cx="10725912" cy="4882896"/>
          </a:xfrm>
          <a:prstGeom prst="roundRect">
            <a:avLst>
              <a:gd name="adj" fmla="val 2000"/>
            </a:avLst>
          </a:prstGeom>
          <a:solidFill>
            <a:srgbClr val="101313"/>
          </a:solidFill>
          <a:ln w="12700">
            <a:solidFill>
              <a:srgbClr val="2930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3621024" y="3017520"/>
            <a:ext cx="4956048" cy="502920"/>
          </a:xfrm>
          <a:prstGeom prst="rect">
            <a:avLst/>
          </a:prstGeom>
          <a:noFill/>
        </p:spPr>
        <p:txBody>
          <a:bodyPr wrap="square" lIns="0" rIns="0" tIns="0" bIns="0" anchor="t">
            <a:spAutoFit/>
          </a:bodyPr>
          <a:lstStyle/>
          <a:p>
            <a:pPr algn="ctr">
              <a:lnSpc>
                <a:spcPct val="115000"/>
              </a:lnSpc>
              <a:spcAft>
                <a:spcPts val="0"/>
              </a:spcAft>
            </a:pPr>
            <a:r>
              <a:rPr sz="2600" b="1">
                <a:solidFill>
                  <a:srgbClr val="EDF3EC"/>
                </a:solidFill>
              </a:rPr>
              <a:t>Insert video here</a:t>
            </a:r>
          </a:p>
        </p:txBody>
      </p:sp>
      <p:sp>
        <p:nvSpPr>
          <p:cNvPr id="8" name="TextBox 7"/>
          <p:cNvSpPr txBox="1"/>
          <p:nvPr/>
        </p:nvSpPr>
        <p:spPr>
          <a:xfrm>
            <a:off x="3621024" y="3584448"/>
            <a:ext cx="4956048" cy="292608"/>
          </a:xfrm>
          <a:prstGeom prst="rect">
            <a:avLst/>
          </a:prstGeom>
          <a:noFill/>
        </p:spPr>
        <p:txBody>
          <a:bodyPr wrap="square" lIns="0" rIns="0" tIns="0" bIns="0" anchor="t">
            <a:spAutoFit/>
          </a:bodyPr>
          <a:lstStyle/>
          <a:p>
            <a:pPr algn="ctr">
              <a:lnSpc>
                <a:spcPct val="115000"/>
              </a:lnSpc>
              <a:spcAft>
                <a:spcPts val="0"/>
              </a:spcAft>
            </a:pPr>
            <a:r>
              <a:rPr sz="1500" b="0">
                <a:solidFill>
                  <a:srgbClr val="8E9995"/>
                </a:solidFill>
              </a:rPr>
              <a:t>or switch to the live app</a:t>
            </a:r>
          </a:p>
        </p:txBody>
      </p:sp>
      <p:sp>
        <p:nvSpPr>
          <p:cNvPr id="9" name="TextBox 8"/>
          <p:cNvSpPr txBox="1"/>
          <p:nvPr/>
        </p:nvSpPr>
        <p:spPr>
          <a:xfrm>
            <a:off x="493776" y="6053328"/>
            <a:ext cx="274320" cy="256032"/>
          </a:xfrm>
          <a:prstGeom prst="rect">
            <a:avLst/>
          </a:prstGeom>
          <a:noFill/>
        </p:spPr>
        <p:txBody>
          <a:bodyPr wrap="square" lIns="0" rIns="0" tIns="0" bIns="0" anchor="t">
            <a:spAutoFit/>
          </a:bodyPr>
          <a:lstStyle/>
          <a:p>
            <a:pPr algn="l">
              <a:lnSpc>
                <a:spcPct val="115000"/>
              </a:lnSpc>
              <a:spcAft>
                <a:spcPts val="0"/>
              </a:spcAft>
            </a:pPr>
            <a:r>
              <a:rPr sz="1200" b="1">
                <a:solidFill>
                  <a:srgbClr val="B7FF3C"/>
                </a:solidFill>
              </a:rPr>
              <a:t>01</a:t>
            </a:r>
          </a:p>
        </p:txBody>
      </p:sp>
      <p:sp>
        <p:nvSpPr>
          <p:cNvPr id="10" name="TextBox 9"/>
          <p:cNvSpPr txBox="1"/>
          <p:nvPr/>
        </p:nvSpPr>
        <p:spPr>
          <a:xfrm>
            <a:off x="804672" y="6062472"/>
            <a:ext cx="2279142" cy="256032"/>
          </a:xfrm>
          <a:prstGeom prst="rect">
            <a:avLst/>
          </a:prstGeom>
          <a:noFill/>
        </p:spPr>
        <p:txBody>
          <a:bodyPr wrap="square" lIns="0" rIns="0" tIns="0" bIns="0" anchor="t">
            <a:spAutoFit/>
          </a:bodyPr>
          <a:lstStyle/>
          <a:p>
            <a:pPr algn="l">
              <a:lnSpc>
                <a:spcPct val="115000"/>
              </a:lnSpc>
              <a:spcAft>
                <a:spcPts val="0"/>
              </a:spcAft>
            </a:pPr>
            <a:r>
              <a:rPr sz="1100" b="0">
                <a:solidFill>
                  <a:srgbClr val="8E9995"/>
                </a:solidFill>
              </a:rPr>
              <a:t>Ask with context</a:t>
            </a:r>
          </a:p>
        </p:txBody>
      </p:sp>
      <p:sp>
        <p:nvSpPr>
          <p:cNvPr id="11" name="TextBox 10"/>
          <p:cNvSpPr txBox="1"/>
          <p:nvPr/>
        </p:nvSpPr>
        <p:spPr>
          <a:xfrm>
            <a:off x="3175254" y="6053328"/>
            <a:ext cx="274320" cy="256032"/>
          </a:xfrm>
          <a:prstGeom prst="rect">
            <a:avLst/>
          </a:prstGeom>
          <a:noFill/>
        </p:spPr>
        <p:txBody>
          <a:bodyPr wrap="square" lIns="0" rIns="0" tIns="0" bIns="0" anchor="t">
            <a:spAutoFit/>
          </a:bodyPr>
          <a:lstStyle/>
          <a:p>
            <a:pPr algn="l">
              <a:lnSpc>
                <a:spcPct val="115000"/>
              </a:lnSpc>
              <a:spcAft>
                <a:spcPts val="0"/>
              </a:spcAft>
            </a:pPr>
            <a:r>
              <a:rPr sz="1200" b="1">
                <a:solidFill>
                  <a:srgbClr val="B7FF3C"/>
                </a:solidFill>
              </a:rPr>
              <a:t>02</a:t>
            </a:r>
          </a:p>
        </p:txBody>
      </p:sp>
      <p:sp>
        <p:nvSpPr>
          <p:cNvPr id="12" name="TextBox 11"/>
          <p:cNvSpPr txBox="1"/>
          <p:nvPr/>
        </p:nvSpPr>
        <p:spPr>
          <a:xfrm>
            <a:off x="3486150" y="6062472"/>
            <a:ext cx="2279142" cy="256032"/>
          </a:xfrm>
          <a:prstGeom prst="rect">
            <a:avLst/>
          </a:prstGeom>
          <a:noFill/>
        </p:spPr>
        <p:txBody>
          <a:bodyPr wrap="square" lIns="0" rIns="0" tIns="0" bIns="0" anchor="t">
            <a:spAutoFit/>
          </a:bodyPr>
          <a:lstStyle/>
          <a:p>
            <a:pPr algn="l">
              <a:lnSpc>
                <a:spcPct val="115000"/>
              </a:lnSpc>
              <a:spcAft>
                <a:spcPts val="0"/>
              </a:spcAft>
            </a:pPr>
            <a:r>
              <a:rPr sz="1100" b="0">
                <a:solidFill>
                  <a:srgbClr val="8E9995"/>
                </a:solidFill>
              </a:rPr>
              <a:t>EverOS memories retrieved</a:t>
            </a:r>
          </a:p>
        </p:txBody>
      </p:sp>
      <p:sp>
        <p:nvSpPr>
          <p:cNvPr id="13" name="TextBox 12"/>
          <p:cNvSpPr txBox="1"/>
          <p:nvPr/>
        </p:nvSpPr>
        <p:spPr>
          <a:xfrm>
            <a:off x="5856732" y="6053328"/>
            <a:ext cx="274320" cy="256032"/>
          </a:xfrm>
          <a:prstGeom prst="rect">
            <a:avLst/>
          </a:prstGeom>
          <a:noFill/>
        </p:spPr>
        <p:txBody>
          <a:bodyPr wrap="square" lIns="0" rIns="0" tIns="0" bIns="0" anchor="t">
            <a:spAutoFit/>
          </a:bodyPr>
          <a:lstStyle/>
          <a:p>
            <a:pPr algn="l">
              <a:lnSpc>
                <a:spcPct val="115000"/>
              </a:lnSpc>
              <a:spcAft>
                <a:spcPts val="0"/>
              </a:spcAft>
            </a:pPr>
            <a:r>
              <a:rPr sz="1200" b="1">
                <a:solidFill>
                  <a:srgbClr val="B7FF3C"/>
                </a:solidFill>
              </a:rPr>
              <a:t>03</a:t>
            </a:r>
          </a:p>
        </p:txBody>
      </p:sp>
      <p:sp>
        <p:nvSpPr>
          <p:cNvPr id="14" name="TextBox 13"/>
          <p:cNvSpPr txBox="1"/>
          <p:nvPr/>
        </p:nvSpPr>
        <p:spPr>
          <a:xfrm>
            <a:off x="6167628" y="6062472"/>
            <a:ext cx="2279142" cy="256032"/>
          </a:xfrm>
          <a:prstGeom prst="rect">
            <a:avLst/>
          </a:prstGeom>
          <a:noFill/>
        </p:spPr>
        <p:txBody>
          <a:bodyPr wrap="square" lIns="0" rIns="0" tIns="0" bIns="0" anchor="t">
            <a:spAutoFit/>
          </a:bodyPr>
          <a:lstStyle/>
          <a:p>
            <a:pPr algn="l">
              <a:lnSpc>
                <a:spcPct val="115000"/>
              </a:lnSpc>
              <a:spcAft>
                <a:spcPts val="0"/>
              </a:spcAft>
            </a:pPr>
            <a:r>
              <a:rPr sz="1100" b="0">
                <a:solidFill>
                  <a:srgbClr val="8E9995"/>
                </a:solidFill>
              </a:rPr>
              <a:t>Full vs KnowU tokens</a:t>
            </a:r>
          </a:p>
        </p:txBody>
      </p:sp>
      <p:sp>
        <p:nvSpPr>
          <p:cNvPr id="15" name="TextBox 14"/>
          <p:cNvSpPr txBox="1"/>
          <p:nvPr/>
        </p:nvSpPr>
        <p:spPr>
          <a:xfrm>
            <a:off x="8538209" y="6053328"/>
            <a:ext cx="274320" cy="256032"/>
          </a:xfrm>
          <a:prstGeom prst="rect">
            <a:avLst/>
          </a:prstGeom>
          <a:noFill/>
        </p:spPr>
        <p:txBody>
          <a:bodyPr wrap="square" lIns="0" rIns="0" tIns="0" bIns="0" anchor="t">
            <a:spAutoFit/>
          </a:bodyPr>
          <a:lstStyle/>
          <a:p>
            <a:pPr algn="l">
              <a:lnSpc>
                <a:spcPct val="115000"/>
              </a:lnSpc>
              <a:spcAft>
                <a:spcPts val="0"/>
              </a:spcAft>
            </a:pPr>
            <a:r>
              <a:rPr sz="1200" b="1">
                <a:solidFill>
                  <a:srgbClr val="B7FF3C"/>
                </a:solidFill>
              </a:rPr>
              <a:t>04</a:t>
            </a:r>
          </a:p>
        </p:txBody>
      </p:sp>
      <p:sp>
        <p:nvSpPr>
          <p:cNvPr id="16" name="TextBox 15"/>
          <p:cNvSpPr txBox="1"/>
          <p:nvPr/>
        </p:nvSpPr>
        <p:spPr>
          <a:xfrm>
            <a:off x="8849105" y="6062472"/>
            <a:ext cx="2279142" cy="256032"/>
          </a:xfrm>
          <a:prstGeom prst="rect">
            <a:avLst/>
          </a:prstGeom>
          <a:noFill/>
        </p:spPr>
        <p:txBody>
          <a:bodyPr wrap="square" lIns="0" rIns="0" tIns="0" bIns="0" anchor="t">
            <a:spAutoFit/>
          </a:bodyPr>
          <a:lstStyle/>
          <a:p>
            <a:pPr algn="l">
              <a:lnSpc>
                <a:spcPct val="115000"/>
              </a:lnSpc>
              <a:spcAft>
                <a:spcPts val="0"/>
              </a:spcAft>
            </a:pPr>
            <a:r>
              <a:rPr sz="1100" b="0">
                <a:solidFill>
                  <a:srgbClr val="8E9995"/>
                </a:solidFill>
              </a:rPr>
              <a:t>Snowflake row written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D0D"/>
        </a:solidFill>
        <a:effectLst/>
      </p:bgPr>
    </p:bg>
    <p:spTree>
      <p:nvGrpSpPr>
        <p:cNvPr id="1" name=""/>
        <p:cNvGrpSpPr/>
        <p:nvPr/>
      </p:nvGrpSpPr>
      <p:grpSpPr/>
      <p:sp>
        <p:nvSpPr>
          <p:cNvPr id="2" name="TextBox 1"/>
          <p:cNvSpPr txBox="1"/>
          <p:nvPr/>
        </p:nvSpPr>
        <p:spPr>
          <a:xfrm>
            <a:off x="493776" y="402336"/>
            <a:ext cx="7315200" cy="274320"/>
          </a:xfrm>
          <a:prstGeom prst="rect">
            <a:avLst/>
          </a:prstGeom>
          <a:noFill/>
        </p:spPr>
        <p:txBody>
          <a:bodyPr wrap="square" lIns="0" rIns="0" tIns="0" bIns="0" anchor="t">
            <a:spAutoFit/>
          </a:bodyPr>
          <a:lstStyle/>
          <a:p>
            <a:pPr algn="l">
              <a:lnSpc>
                <a:spcPct val="115000"/>
              </a:lnSpc>
              <a:spcAft>
                <a:spcPts val="0"/>
              </a:spcAft>
            </a:pPr>
            <a:r>
              <a:rPr sz="1300" b="1" spc="110">
                <a:solidFill>
                  <a:srgbClr val="B7FF3C"/>
                </a:solidFill>
              </a:rPr>
              <a:t>TRACK 1  /  COST OF INTELLIGENCE</a:t>
            </a:r>
          </a:p>
        </p:txBody>
      </p:sp>
      <p:sp>
        <p:nvSpPr>
          <p:cNvPr id="3" name="TextBox 2"/>
          <p:cNvSpPr txBox="1"/>
          <p:nvPr/>
        </p:nvSpPr>
        <p:spPr>
          <a:xfrm>
            <a:off x="493776" y="1389888"/>
            <a:ext cx="9509760" cy="2103120"/>
          </a:xfrm>
          <a:prstGeom prst="rect">
            <a:avLst/>
          </a:prstGeom>
          <a:noFill/>
        </p:spPr>
        <p:txBody>
          <a:bodyPr wrap="square" lIns="0" rIns="0" tIns="0" bIns="0" anchor="t">
            <a:spAutoFit/>
          </a:bodyPr>
          <a:lstStyle/>
          <a:p>
            <a:pPr algn="l">
              <a:lnSpc>
                <a:spcPct val="108000"/>
              </a:lnSpc>
              <a:spcAft>
                <a:spcPts val="0"/>
              </a:spcAft>
            </a:pPr>
            <a:r>
              <a:rPr sz="5000" b="1">
                <a:solidFill>
                  <a:srgbClr val="EDF3EC"/>
                </a:solidFill>
              </a:rPr>
              <a:t>Personal AI should get</a:t>
            </a:r>
          </a:p>
          <a:p>
            <a:pPr algn="l">
              <a:lnSpc>
                <a:spcPct val="108000"/>
              </a:lnSpc>
              <a:spcAft>
                <a:spcPts val="0"/>
              </a:spcAft>
            </a:pPr>
            <a:r>
              <a:rPr sz="5000" b="1">
                <a:solidFill>
                  <a:srgbClr val="EDF3EC"/>
                </a:solidFill>
              </a:rPr>
              <a:t>smarter — not heavier.</a:t>
            </a:r>
          </a:p>
        </p:txBody>
      </p:sp>
      <p:sp>
        <p:nvSpPr>
          <p:cNvPr id="4" name="TextBox 3"/>
          <p:cNvSpPr txBox="1"/>
          <p:nvPr/>
        </p:nvSpPr>
        <p:spPr>
          <a:xfrm>
            <a:off x="493776" y="3785615"/>
            <a:ext cx="10607040" cy="457200"/>
          </a:xfrm>
          <a:prstGeom prst="rect">
            <a:avLst/>
          </a:prstGeom>
          <a:noFill/>
        </p:spPr>
        <p:txBody>
          <a:bodyPr wrap="square" lIns="0" rIns="0" tIns="0" bIns="0" anchor="t">
            <a:spAutoFit/>
          </a:bodyPr>
          <a:lstStyle/>
          <a:p>
            <a:pPr algn="l">
              <a:lnSpc>
                <a:spcPct val="115000"/>
              </a:lnSpc>
              <a:spcAft>
                <a:spcPts val="0"/>
              </a:spcAft>
            </a:pPr>
            <a:r>
              <a:rPr sz="2200" b="1">
                <a:solidFill>
                  <a:srgbClr val="EDF3EC"/>
                </a:solidFill>
              </a:rPr>
              <a:t>KnowU remembers more, sends less, and proves the difference.</a:t>
            </a:r>
          </a:p>
        </p:txBody>
      </p:sp>
      <p:sp>
        <p:nvSpPr>
          <p:cNvPr id="5" name="Rounded Rectangle 4"/>
          <p:cNvSpPr/>
          <p:nvPr/>
        </p:nvSpPr>
        <p:spPr>
          <a:xfrm>
            <a:off x="493776" y="4590288"/>
            <a:ext cx="10725912" cy="859536"/>
          </a:xfrm>
          <a:prstGeom prst="roundRect">
            <a:avLst>
              <a:gd name="adj" fmla="val 4500"/>
            </a:avLst>
          </a:prstGeom>
          <a:solidFill>
            <a:srgbClr val="101313"/>
          </a:solidFill>
          <a:ln w="12700">
            <a:solidFill>
              <a:srgbClr val="2930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68096" y="4754880"/>
            <a:ext cx="1737360" cy="475488"/>
          </a:xfrm>
          <a:prstGeom prst="rect">
            <a:avLst/>
          </a:prstGeom>
          <a:noFill/>
        </p:spPr>
        <p:txBody>
          <a:bodyPr wrap="square" lIns="0" rIns="0" tIns="0" bIns="0" anchor="t">
            <a:spAutoFit/>
          </a:bodyPr>
          <a:lstStyle/>
          <a:p>
            <a:pPr algn="l">
              <a:lnSpc>
                <a:spcPct val="100000"/>
              </a:lnSpc>
              <a:spcAft>
                <a:spcPts val="0"/>
              </a:spcAft>
            </a:pPr>
            <a:r>
              <a:rPr sz="3000" b="1">
                <a:solidFill>
                  <a:srgbClr val="B7FF3C"/>
                </a:solidFill>
              </a:rPr>
              <a:t>65%</a:t>
            </a:r>
          </a:p>
        </p:txBody>
      </p:sp>
      <p:sp>
        <p:nvSpPr>
          <p:cNvPr id="7" name="TextBox 6"/>
          <p:cNvSpPr txBox="1"/>
          <p:nvPr/>
        </p:nvSpPr>
        <p:spPr>
          <a:xfrm>
            <a:off x="1920240" y="4846320"/>
            <a:ext cx="9052560" cy="457200"/>
          </a:xfrm>
          <a:prstGeom prst="rect">
            <a:avLst/>
          </a:prstGeom>
          <a:noFill/>
        </p:spPr>
        <p:txBody>
          <a:bodyPr wrap="square" lIns="0" rIns="0" tIns="0" bIns="0" anchor="t">
            <a:spAutoFit/>
          </a:bodyPr>
          <a:lstStyle/>
          <a:p>
            <a:pPr algn="l">
              <a:lnSpc>
                <a:spcPct val="130000"/>
              </a:lnSpc>
              <a:spcAft>
                <a:spcPts val="0"/>
              </a:spcAft>
            </a:pPr>
            <a:r>
              <a:rPr sz="1350" b="0">
                <a:solidFill>
                  <a:srgbClr val="8E9995"/>
                </a:solidFill>
              </a:rPr>
              <a:t>fewer input tokens per answer across nine measured runs — and the saving grows as the memory deepens.</a:t>
            </a:r>
          </a:p>
        </p:txBody>
      </p:sp>
      <p:sp>
        <p:nvSpPr>
          <p:cNvPr id="8" name="Rectangle 7"/>
          <p:cNvSpPr/>
          <p:nvPr/>
        </p:nvSpPr>
        <p:spPr>
          <a:xfrm>
            <a:off x="493776" y="5779008"/>
            <a:ext cx="10725912" cy="0"/>
          </a:xfrm>
          <a:prstGeom prst="rect">
            <a:avLst/>
          </a:prstGeom>
          <a:noFill/>
          <a:ln w="12700">
            <a:solidFill>
              <a:srgbClr val="293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93776" y="6089904"/>
            <a:ext cx="91440" cy="91440"/>
          </a:xfrm>
          <a:prstGeom prst="ellipse">
            <a:avLst/>
          </a:prstGeom>
          <a:solidFill>
            <a:srgbClr val="B7FF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85800" y="6007608"/>
            <a:ext cx="3017520" cy="274320"/>
          </a:xfrm>
          <a:prstGeom prst="rect">
            <a:avLst/>
          </a:prstGeom>
          <a:noFill/>
        </p:spPr>
        <p:txBody>
          <a:bodyPr wrap="square" lIns="0" rIns="0" tIns="0" bIns="0" anchor="t">
            <a:spAutoFit/>
          </a:bodyPr>
          <a:lstStyle/>
          <a:p>
            <a:pPr algn="l">
              <a:lnSpc>
                <a:spcPct val="115000"/>
              </a:lnSpc>
              <a:spcAft>
                <a:spcPts val="0"/>
              </a:spcAft>
            </a:pPr>
            <a:r>
              <a:rPr sz="1250" b="1" spc="90">
                <a:solidFill>
                  <a:srgbClr val="EDF3EC"/>
                </a:solidFill>
              </a:rPr>
              <a:t>LOCAL-FIRST</a:t>
            </a:r>
          </a:p>
        </p:txBody>
      </p:sp>
      <p:sp>
        <p:nvSpPr>
          <p:cNvPr id="11" name="Oval 10"/>
          <p:cNvSpPr/>
          <p:nvPr/>
        </p:nvSpPr>
        <p:spPr>
          <a:xfrm>
            <a:off x="3831335" y="6089904"/>
            <a:ext cx="91440" cy="91440"/>
          </a:xfrm>
          <a:prstGeom prst="ellipse">
            <a:avLst/>
          </a:prstGeom>
          <a:solidFill>
            <a:srgbClr val="B7FF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023359" y="6007608"/>
            <a:ext cx="3017520" cy="274320"/>
          </a:xfrm>
          <a:prstGeom prst="rect">
            <a:avLst/>
          </a:prstGeom>
          <a:noFill/>
        </p:spPr>
        <p:txBody>
          <a:bodyPr wrap="square" lIns="0" rIns="0" tIns="0" bIns="0" anchor="t">
            <a:spAutoFit/>
          </a:bodyPr>
          <a:lstStyle/>
          <a:p>
            <a:pPr algn="l">
              <a:lnSpc>
                <a:spcPct val="115000"/>
              </a:lnSpc>
              <a:spcAft>
                <a:spcPts val="0"/>
              </a:spcAft>
            </a:pPr>
            <a:r>
              <a:rPr sz="1250" b="1" spc="90">
                <a:solidFill>
                  <a:srgbClr val="EDF3EC"/>
                </a:solidFill>
              </a:rPr>
              <a:t>EVEROS MEMORY</a:t>
            </a:r>
          </a:p>
        </p:txBody>
      </p:sp>
      <p:sp>
        <p:nvSpPr>
          <p:cNvPr id="13" name="Oval 12"/>
          <p:cNvSpPr/>
          <p:nvPr/>
        </p:nvSpPr>
        <p:spPr>
          <a:xfrm>
            <a:off x="7168896" y="6089904"/>
            <a:ext cx="91440" cy="91440"/>
          </a:xfrm>
          <a:prstGeom prst="ellipse">
            <a:avLst/>
          </a:prstGeom>
          <a:solidFill>
            <a:srgbClr val="65CD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360920" y="6007608"/>
            <a:ext cx="3017520" cy="274320"/>
          </a:xfrm>
          <a:prstGeom prst="rect">
            <a:avLst/>
          </a:prstGeom>
          <a:noFill/>
        </p:spPr>
        <p:txBody>
          <a:bodyPr wrap="square" lIns="0" rIns="0" tIns="0" bIns="0" anchor="t">
            <a:spAutoFit/>
          </a:bodyPr>
          <a:lstStyle/>
          <a:p>
            <a:pPr algn="l">
              <a:lnSpc>
                <a:spcPct val="115000"/>
              </a:lnSpc>
              <a:spcAft>
                <a:spcPts val="0"/>
              </a:spcAft>
            </a:pPr>
            <a:r>
              <a:rPr sz="1250" b="1" spc="90">
                <a:solidFill>
                  <a:srgbClr val="EDF3EC"/>
                </a:solidFill>
              </a:rPr>
              <a:t>SNOWFLAKE ECONOMICS</a:t>
            </a:r>
          </a:p>
        </p:txBody>
      </p:sp>
      <p:pic>
        <p:nvPicPr>
          <p:cNvPr id="15" name="Picture 14" descr="image3.png"/>
          <p:cNvPicPr>
            <a:picLocks noChangeAspect="1"/>
          </p:cNvPicPr>
          <p:nvPr/>
        </p:nvPicPr>
        <p:blipFill>
          <a:blip r:embed="rId2"/>
          <a:stretch>
            <a:fillRect/>
          </a:stretch>
        </p:blipFill>
        <p:spPr>
          <a:xfrm>
            <a:off x="10168128" y="1389888"/>
            <a:ext cx="1051560" cy="1051560"/>
          </a:xfrm>
          <a:prstGeom prst="rect">
            <a:avLst/>
          </a:prstGeom>
        </p:spPr>
      </p:pic>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2026-08-07T22:25:42.7570000Z</dcterms:created>
  <dcterms:modified xsi:type="dcterms:W3CDTF">2026-08-07T22:25:42.7570000Z</dcterms:modified>
</coreProperties>
</file>