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34eb932bb44698" /><Relationship Type="http://schemas.openxmlformats.org/officeDocument/2006/relationships/extended-properties" Target="/docProps/app.xml" Id="R69f404af65b7418b" /><Relationship Type="http://schemas.openxmlformats.org/officeDocument/2006/relationships/officeDocument" Target="/ppt/presentation.xml" Id="Rc8f097d9f94d4d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49e91eee834fa3"/>
  </p:sldMasterIdLst>
  <p:notesMasterIdLst>
    <p:notesMasterId xmlns:r="http://schemas.openxmlformats.org/officeDocument/2006/relationships" r:id="R992c61a737e54e68"/>
  </p:notesMasterIdLst>
  <p:sldIdLst>
    <p:sldId xmlns:r="http://schemas.openxmlformats.org/officeDocument/2006/relationships" id="256" r:id="R2c5a72843fa742b4"/>
    <p:sldId xmlns:r="http://schemas.openxmlformats.org/officeDocument/2006/relationships" id="257" r:id="R7cc121a1dadc4e3a"/>
    <p:sldId xmlns:r="http://schemas.openxmlformats.org/officeDocument/2006/relationships" id="258" r:id="Rc6eea081eb044698"/>
    <p:sldId xmlns:r="http://schemas.openxmlformats.org/officeDocument/2006/relationships" id="259" r:id="R6e9ca89354254cd2"/>
    <p:sldId xmlns:r="http://schemas.openxmlformats.org/officeDocument/2006/relationships" id="260" r:id="R04f12d117f6b4f6d"/>
    <p:sldId xmlns:r="http://schemas.openxmlformats.org/officeDocument/2006/relationships" id="261" r:id="Rdae317d3b1cb48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c73d7196484585" /><Relationship Type="http://schemas.openxmlformats.org/officeDocument/2006/relationships/slideMaster" Target="/ppt/slideMasters/slideMaster1.xml" Id="R7049e91eee834fa3" /><Relationship Type="http://schemas.openxmlformats.org/officeDocument/2006/relationships/notesMaster" Target="/ppt/notesMasters/notesMaster1.xml" Id="R992c61a737e54e68" /><Relationship Type="http://schemas.openxmlformats.org/officeDocument/2006/relationships/presProps" Target="/ppt/presProps.xml" Id="Re4ff8c5c9c6e4d74" /><Relationship Type="http://schemas.openxmlformats.org/officeDocument/2006/relationships/tableStyles" Target="/ppt/tableStyles.xml" Id="R5b830483cc434043" /><Relationship Type="http://schemas.openxmlformats.org/officeDocument/2006/relationships/slide" Target="/ppt/slides/slide1.xml" Id="R2c5a72843fa742b4" /><Relationship Type="http://schemas.openxmlformats.org/officeDocument/2006/relationships/slide" Target="/ppt/slides/slide2.xml" Id="R7cc121a1dadc4e3a" /><Relationship Type="http://schemas.openxmlformats.org/officeDocument/2006/relationships/slide" Target="/ppt/slides/slide3.xml" Id="Rc6eea081eb044698" /><Relationship Type="http://schemas.openxmlformats.org/officeDocument/2006/relationships/slide" Target="/ppt/slides/slide4.xml" Id="R6e9ca89354254cd2" /><Relationship Type="http://schemas.openxmlformats.org/officeDocument/2006/relationships/slide" Target="/ppt/slides/slide5.xml" Id="R04f12d117f6b4f6d" /><Relationship Type="http://schemas.openxmlformats.org/officeDocument/2006/relationships/slide" Target="/ppt/slides/slide6.xml" Id="Rdae317d3b1cb48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7ba88f881344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f1966f221d447b" /><Relationship Type="http://schemas.openxmlformats.org/officeDocument/2006/relationships/notesMaster" Target="/ppt/notesMasters/notesMaster1.xml" Id="R670a471f51274c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fd0cd68a0143ac" /><Relationship Type="http://schemas.openxmlformats.org/officeDocument/2006/relationships/notesMaster" Target="/ppt/notesMasters/notesMaster1.xml" Id="R761f6ea5c38442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f90bac9a834e80" /><Relationship Type="http://schemas.openxmlformats.org/officeDocument/2006/relationships/notesMaster" Target="/ppt/notesMasters/notesMaster1.xml" Id="R0db6c70eb78b4b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913a2406ba4f06" /><Relationship Type="http://schemas.openxmlformats.org/officeDocument/2006/relationships/notesMaster" Target="/ppt/notesMasters/notesMaster1.xml" Id="R279156c6b6b949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bec0ab85194ea3" /><Relationship Type="http://schemas.openxmlformats.org/officeDocument/2006/relationships/notesMaster" Target="/ppt/notesMasters/notesMaster1.xml" Id="R8e27b0669e6a49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9954af035145cd" /><Relationship Type="http://schemas.openxmlformats.org/officeDocument/2006/relationships/notesMaster" Target="/ppt/notesMasters/notesMaster1.xml" Id="Rc0b6ec017cf140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seconds.</a:t>
            </a:r>
          </a:p>
          <a:p xmlns:a="http://schemas.openxmlformats.org/drawingml/2006/main">
            <a:r>
              <a:t>KnowU is a personal AI that can remember more about you without sending more context on every request.</a:t>
            </a:r>
          </a:p>
          <a:p xmlns:a="http://schemas.openxmlformats.org/drawingml/2006/main">
            <a:r>
              <a:t>We built it for the Cost of Intelligence track: make personalization useful, bounded, and measurable.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repository: README.md</a:t>
            </a:r>
          </a:p>
          <a:p xmlns:a="http://schemas.openxmlformats.org/drawingml/2006/main">
            <a:r>
              <a:t>- Internal brand asset: apps/desktop/public/knowu-icon.svg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seconds.</a:t>
            </a:r>
          </a:p>
          <a:p xmlns:a="http://schemas.openxmlformats.org/drawingml/2006/main">
            <a:r>
              <a:t>The usual personalization pattern keeps appending profile, history, and conversation to every request.</a:t>
            </a:r>
          </a:p>
          <a:p xmlns:a="http://schemas.openxmlformats.org/drawingml/2006/main">
            <a:r>
              <a:t>Cost grows even when most of that context is irrelevant.</a:t>
            </a:r>
          </a:p>
          <a:p xmlns:a="http://schemas.openxmlformats.org/drawingml/2006/main">
            <a:r>
              <a:t>KnowU flips the rule: the current question determines what is retrieved and how much can be 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repository: README.md — The problem; The solution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30 seconds.</a:t>
            </a:r>
          </a:p>
          <a:p xmlns:a="http://schemas.openxmlformats.org/drawingml/2006/main">
            <a:r>
              <a:t>First, KnowU observes low-risk local signals and organizes them into visible work threads.</a:t>
            </a:r>
          </a:p>
          <a:p xmlns:a="http://schemas.openxmlformats.org/drawingml/2006/main">
            <a:r>
              <a:t>Second, EverOS retrieves only approved memories relevant to the question, while a deterministic packer uses the remaining budget for selected evidence.</a:t>
            </a:r>
          </a:p>
          <a:p xmlns:a="http://schemas.openxmlformats.org/drawingml/2006/main">
            <a:r>
              <a:t>Third, the chosen provider answers once and Snowflake records only aggregate context economics so the saving can be audited without exporting raw personal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repository: README.md — Architecture; EverOS integration; Snowflake integration; Privacy model</a:t>
            </a:r>
          </a:p>
          <a:p xmlns:a="http://schemas.openxmlformats.org/drawingml/2006/main">
            <a:r>
              <a:t>- Internal repository: docs/architecture.md</a:t>
            </a:r>
          </a:p>
          <a:p xmlns:a="http://schemas.openxmlformats.org/drawingml/2006/main">
            <a:r>
              <a:t>- Internal repository: docs/privacy-model.md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30 seconds.</a:t>
            </a:r>
          </a:p>
          <a:p xmlns:a="http://schemas.openxmlformats.org/drawingml/2006/main">
            <a:r>
              <a:t>This is the trust layer: the user can see what KnowU remembered, which context was packed, and what the token comparison means.</a:t>
            </a:r>
          </a:p>
          <a:p xmlns:a="http://schemas.openxmlformats.org/drawingml/2006/main">
            <a:r>
              <a:t>The larger prompt is never sent; it is an answer-equivalent comparison baseline.</a:t>
            </a:r>
          </a:p>
          <a:p xmlns:a="http://schemas.openxmlformats.org/drawingml/2006/main">
            <a:r>
              <a:t>The optimized prompt is the single path that produces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repository: apps/desktop/src/App.tsx</a:t>
            </a:r>
          </a:p>
          <a:p xmlns:a="http://schemas.openxmlformats.org/drawingml/2006/main">
            <a:r>
              <a:t>- Internal repository: apps/desktop/src/App.css</a:t>
            </a:r>
          </a:p>
          <a:p xmlns:a="http://schemas.openxmlformats.org/drawingml/2006/main">
            <a:r>
              <a:t>- Current local browser-preview capture generated from the running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60 seconds.</a:t>
            </a:r>
          </a:p>
          <a:p xmlns:a="http://schemas.openxmlformats.org/drawingml/2006/main">
            <a:r>
              <a:t>Suggested live path:</a:t>
            </a:r>
          </a:p>
          <a:p xmlns:a="http://schemas.openxmlformats.org/drawingml/2006/main">
            <a:r>
              <a:t>1. Open Now and show the reconstructed KnowU implementation thread.</a:t>
            </a:r>
          </a:p>
          <a:p xmlns:a="http://schemas.openxmlformats.org/drawingml/2006/main">
            <a:r>
              <a:t>2. Choose Ask with context and ask: ‘What should I prioritize for the production version?’</a:t>
            </a:r>
          </a:p>
          <a:p xmlns:a="http://schemas.openxmlformats.org/drawingml/2006/main">
            <a:r>
              <a:t>3. Point to the retrieved EverOS memories and the selected-thread evidence.</a:t>
            </a:r>
          </a:p>
          <a:p xmlns:a="http://schemas.openxmlformats.org/drawingml/2006/main">
            <a:r>
              <a:t>4. Compare Full Context with KnowU Context in Context Economics.</a:t>
            </a:r>
          </a:p>
          <a:p xmlns:a="http://schemas.openxmlformats.org/drawingml/2006/main">
            <a:r>
              <a:t>5. Show the aggregate Snowflake telemetry status or prepared query result.</a:t>
            </a:r>
          </a:p>
          <a:p xmlns:a="http://schemas.openxmlformats.org/drawingml/2006/main">
            <a:r>
              <a:t>If the live app is risky, replace the framed area with a pre-recorded 50–60 second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repository: README.md — main demo flow</a:t>
            </a:r>
          </a:p>
          <a:p xmlns:a="http://schemas.openxmlformats.org/drawingml/2006/main">
            <a:r>
              <a:t>- User-requested live demo / video insertion canvas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seconds.</a:t>
            </a:r>
          </a:p>
          <a:p xmlns:a="http://schemas.openxmlformats.org/drawingml/2006/main">
            <a:r>
              <a:t>KnowU makes the assistant more personal without making every request heavier.</a:t>
            </a:r>
          </a:p>
          <a:p xmlns:a="http://schemas.openxmlformats.org/drawingml/2006/main">
            <a:r>
              <a:t>It keeps raw behavior local, uses EverOS for relevant approved memory, and uses Snowflake to prove the context economics.</a:t>
            </a:r>
          </a:p>
          <a:p xmlns:a="http://schemas.openxmlformats.org/drawingml/2006/main">
            <a:r>
              <a:t>That is the promise: every token should earn its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00751f03f45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a3890a84704007" /><Relationship Type="http://schemas.openxmlformats.org/officeDocument/2006/relationships/slideLayout" Target="/ppt/slideLayouts/slideLayout1.xml" Id="R2a972098982645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972098982645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80bb3e1ac4663" /><Relationship Type="http://schemas.openxmlformats.org/officeDocument/2006/relationships/image" Target="/ppt/media/image.png" Id="R54fcf4497401423d" /><Relationship Type="http://schemas.openxmlformats.org/officeDocument/2006/relationships/notesSlide" Target="/ppt/notesSlides/notesSlide1.xml" Id="R3d415ce66c8043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a7faad0af4e94" /><Relationship Type="http://schemas.openxmlformats.org/officeDocument/2006/relationships/notesSlide" Target="/ppt/notesSlides/notesSlide2.xml" Id="Rceeb63f144b449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960e732dc41bd" /><Relationship Type="http://schemas.openxmlformats.org/officeDocument/2006/relationships/notesSlide" Target="/ppt/notesSlides/notesSlide3.xml" Id="Re81300c27e3f40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c4d6e936c4f8d" /><Relationship Type="http://schemas.openxmlformats.org/officeDocument/2006/relationships/image" Target="/ppt/media/image2.png" Id="R62703bc5364c4f80" /><Relationship Type="http://schemas.openxmlformats.org/officeDocument/2006/relationships/notesSlide" Target="/ppt/notesSlides/notesSlide4.xml" Id="Rfa863bf44d7c4d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a374455674510" /><Relationship Type="http://schemas.openxmlformats.org/officeDocument/2006/relationships/image" Target="/ppt/media/image3.png" Id="Rf6abab0976744b3c" /><Relationship Type="http://schemas.openxmlformats.org/officeDocument/2006/relationships/notesSlide" Target="/ppt/notesSlides/notesSlide5.xml" Id="R22b5ca66fbcd45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75959237a46af" /><Relationship Type="http://schemas.openxmlformats.org/officeDocument/2006/relationships/image" Target="/ppt/media/image4.png" Id="R37afa56fafda4c18" /><Relationship Type="http://schemas.openxmlformats.org/officeDocument/2006/relationships/notesSlide" Target="/ppt/notesSlides/notesSlide6.xml" Id="Rac3481106e3d43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59488-C3C5-4C88-BD1E-74662272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FF3C"/>
                </a:solidFill>
              </a:defRPr>
            </a:pPr>
            <a:r>
              <a:rPr sz="1350" b="1">
                <a:solidFill>
                  <a:srgbClr val="B7FF3C"/>
                </a:solidFill>
              </a:rPr>
              <a:t>SNOWFLAKE × BETA FUND × EVERMIND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B6CA0-DE7C-4961-B9B4-56030CDC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676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EDF3EC"/>
                </a:solidFill>
              </a:defRPr>
            </a:pPr>
            <a:r>
              <a:rPr sz="6600" b="1">
                <a:solidFill>
                  <a:srgbClr val="EDF3EC"/>
                </a:solidFill>
              </a:rPr>
              <a:t>KnowU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E3039-9DF1-4347-9113-E5A39A5B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3EC"/>
                </a:solidFill>
              </a:defRPr>
            </a:pPr>
            <a:r>
              <a:rPr sz="3600" b="1">
                <a:solidFill>
                  <a:srgbClr val="EDF3EC"/>
                </a:solidFill>
              </a:rPr>
              <a:t>Remembers more.</a:t>
            </a:r>
          </a:p>
          <a:p xmlns:a="http://schemas.openxmlformats.org/drawingml/2006/main">
            <a:pPr algn="l">
              <a:defRPr sz="3600" b="1">
                <a:solidFill>
                  <a:srgbClr val="EDF3EC"/>
                </a:solidFill>
              </a:defRPr>
            </a:pPr>
            <a:r>
              <a:rPr sz="3600" b="1">
                <a:solidFill>
                  <a:srgbClr val="EDF3EC"/>
                </a:solidFill>
              </a:rPr>
              <a:t>Sends less.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7E74D-C23C-44F6-8B33-4A4E80BD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E9995"/>
                </a:solidFill>
              </a:defRPr>
            </a:pPr>
            <a:r>
              <a:rPr sz="1800" b="0">
                <a:solidFill>
                  <a:srgbClr val="8E9995"/>
                </a:solidFill>
              </a:rPr>
              <a:t>A memory-efficient personal AI for Track 1: Cost of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07532-2D2C-4A9B-99F3-580D5895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66850"/>
            <a:ext cx="2857500" cy="2857500"/>
          </a:xfrm>
          <a:prstGeom xmlns:a="http://schemas.openxmlformats.org/drawingml/2006/main" prst="roundRect">
            <a:avLst>
              <a:gd name="adj" fmla="val 15333"/>
            </a:avLst>
          </a:prstGeom>
          <a:solidFill xmlns:a="http://schemas.openxmlformats.org/drawingml/2006/main">
            <a:srgbClr val="101313"/>
          </a:solidFill>
          <a:ln xmlns:a="http://schemas.openxmlformats.org/drawingml/2006/main" w="9525">
            <a:solidFill>
              <a:srgbClr val="20272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cf4497401423d"/>
          <a:stretch xmlns:a="http://schemas.openxmlformats.org/drawingml/2006/main"/>
        </p:blipFill>
        <p:spPr>
          <a:xfrm xmlns:a="http://schemas.openxmlformats.org/drawingml/2006/main">
            <a:off x="8572500" y="1714500"/>
            <a:ext cx="2362200" cy="2362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DDA61-8F6B-426D-BF4E-A9ABFEBB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92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7778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499D3-18A6-4AC2-A514-00042402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3EC"/>
                </a:solidFill>
              </a:defRPr>
            </a:pPr>
            <a:r>
              <a:rPr sz="3600" b="1">
                <a:solidFill>
                  <a:srgbClr val="EDF3EC"/>
                </a:solidFill>
              </a:rPr>
              <a:t>Personal AI gets more expensive as it learns.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8D966-F6EE-4B93-863E-B093636A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E9995"/>
                </a:solidFill>
              </a:defRPr>
            </a:pPr>
            <a:r>
              <a:rPr sz="2400" b="1">
                <a:solidFill>
                  <a:srgbClr val="8E9995"/>
                </a:solidFill>
              </a:rPr>
              <a:t>FULL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91EE8-B3B7-4AB4-877A-18AF414B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DF3EC"/>
                </a:solidFill>
              </a:defRPr>
            </a:pPr>
            <a:r>
              <a:rPr sz="1650" b="0">
                <a:solidFill>
                  <a:srgbClr val="EDF3EC"/>
                </a:solidFill>
              </a:rPr>
              <a:t>Profile + history + every conversation, sent again.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E6733-1F0C-4FB9-B50F-F9EFFDE8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45529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5879F-2696-4E7E-996F-33D4856A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4324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AEE48-C28B-4DAF-B086-472AA223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4095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77309-C259-492F-89FF-8DA1DA1E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3829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D7CE1-D941-4778-9E9F-5210C383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35433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93F29-5BFA-4618-8DFD-DF69417E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32194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04407-24AD-4E42-9D2E-D1D6487C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304ED-A612-415E-8893-53AD53B6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943ED-3965-42F6-8020-6169895B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0" cy="3790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0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7B130-3917-422D-AA7C-FF7D657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66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7FF3C"/>
                </a:solidFill>
              </a:defRPr>
            </a:pPr>
            <a:r>
              <a:rPr sz="2400" b="1">
                <a:solidFill>
                  <a:srgbClr val="B7FF3C"/>
                </a:solidFill>
              </a:rPr>
              <a:t>KNOWU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91CDE-401C-4D0F-B853-340FE5DA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DF3EC"/>
                </a:solidFill>
              </a:defRPr>
            </a:pPr>
            <a:r>
              <a:rPr sz="1650" b="0">
                <a:solidFill>
                  <a:srgbClr val="EDF3EC"/>
                </a:solidFill>
              </a:rPr>
              <a:t>Only the memories and evidence this question needs.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1B972-E4E6-41F2-B6D1-2393A32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FF3C"/>
                </a:solidFill>
              </a:defRPr>
            </a:pPr>
            <a:r>
              <a:rPr sz="1500" b="1">
                <a:solidFill>
                  <a:srgbClr val="B7FF3C"/>
                </a:solidFill>
              </a:rPr>
              <a:t>Relevant memories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BF105-565B-4DC5-8571-C97A6530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3695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F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88964-A4BB-4328-9403-0F973112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CDFD"/>
                </a:solidFill>
              </a:defRPr>
            </a:pPr>
            <a:r>
              <a:rPr sz="1500" b="1">
                <a:solidFill>
                  <a:srgbClr val="65CDFD"/>
                </a:solidFill>
              </a:rPr>
              <a:t>Query-specific 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4FEBE-BE9D-4B09-B236-21324240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30670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D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947E8-A027-4298-849E-75D9ED24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3EC"/>
                </a:solidFill>
              </a:defRPr>
            </a:pPr>
            <a:r>
              <a:rPr sz="1500" b="1">
                <a:solidFill>
                  <a:srgbClr val="EDF3EC"/>
                </a:solidFill>
              </a:rPr>
              <a:t>Selected-thread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9039D-C0C6-47BD-80C1-5EE5F2B4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24450"/>
            <a:ext cx="4191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E90F4-010B-4762-8E3A-0464A16E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5CDFD"/>
                </a:solidFill>
              </a:defRPr>
            </a:pPr>
            <a:r>
              <a:rPr sz="1800" b="1">
                <a:solidFill>
                  <a:srgbClr val="65CDFD"/>
                </a:solidFill>
              </a:rPr>
              <a:t>The question—not the entire relationship—sets the context budget.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4C73D-B0C7-47CE-9FB0-35174201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A66"/>
                </a:solidFill>
              </a:defRPr>
            </a:pPr>
            <a:r>
              <a:rPr sz="1200" b="0">
                <a:solidFill>
                  <a:srgbClr val="5F6A6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7481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76C77-5267-4FEF-A4C3-71E4DB2B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3EC"/>
                </a:solidFill>
              </a:defRPr>
            </a:pPr>
            <a:r>
              <a:rPr sz="3600" b="1">
                <a:solidFill>
                  <a:srgbClr val="EDF3EC"/>
                </a:solidFill>
              </a:rPr>
              <a:t>KnowU keeps context useful—and bounded.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FBE63-6D08-4CC0-9553-09CB9600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AB05B-5F1F-404C-BB0D-5DEBE500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581400" cy="36195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141818"/>
          </a:solidFill>
          <a:ln xmlns:a="http://schemas.openxmlformats.org/drawingml/2006/main" w="9525">
            <a:solidFill>
              <a:srgbClr val="2C343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FE36A-4BB1-470E-A3DB-6663EB17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7FF3C"/>
                </a:solidFill>
              </a:defRPr>
            </a:pPr>
            <a:r>
              <a:rPr sz="2700" b="1">
                <a:solidFill>
                  <a:srgbClr val="B7FF3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2E3A6-33E7-4D75-9375-AE097AE0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FF3C"/>
                </a:solidFill>
              </a:defRPr>
            </a:pPr>
            <a:r>
              <a:rPr sz="1350" b="1">
                <a:solidFill>
                  <a:srgbClr val="B7FF3C"/>
                </a:solidFill>
              </a:rPr>
              <a:t>OBSERVE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A9966-C04F-4810-82F4-13575B4A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DF3EC"/>
                </a:solidFill>
              </a:defRPr>
            </a:pPr>
            <a:r>
              <a:rPr sz="2400" b="1">
                <a:solidFill>
                  <a:srgbClr val="EDF3EC"/>
                </a:solidFill>
              </a:rPr>
              <a:t>Local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31243-7362-4986-9F16-970D910A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048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E9995"/>
                </a:solidFill>
              </a:defRPr>
            </a:pPr>
            <a:r>
              <a:rPr sz="1650" b="0">
                <a:solidFill>
                  <a:srgbClr val="8E9995"/>
                </a:solidFill>
              </a:rPr>
              <a:t>Raw activity stays on the Mac. Apps, permitted titles, browser history, and editor saves become visible work threads.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B63EA-996B-4CF6-8E6C-97CE6179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1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F3C"/>
          </a:solidFill>
          <a:ln xmlns:a="http://schemas.openxmlformats.org/drawingml/2006/main" w="0">
            <a:solidFill>
              <a:srgbClr val="B7FF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7D531-6B1D-47CF-AB7A-3595E907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EC"/>
                </a:solidFill>
              </a:defRPr>
            </a:pPr>
            <a:r>
              <a:rPr sz="1650" b="1">
                <a:solidFill>
                  <a:srgbClr val="EDF3EC"/>
                </a:solidFill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07D99-4BC7-4BA5-8C28-044D792F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581400" cy="36195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141818"/>
          </a:solidFill>
          <a:ln xmlns:a="http://schemas.openxmlformats.org/drawingml/2006/main" w="9525">
            <a:solidFill>
              <a:srgbClr val="2C34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51D0F-057C-4E90-9013-06F0F940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CDFD"/>
                </a:solidFill>
              </a:defRPr>
            </a:pPr>
            <a:r>
              <a:rPr sz="2700" b="1">
                <a:solidFill>
                  <a:srgbClr val="65CDF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F671F-5535-409A-96E0-C04AD731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CDFD"/>
                </a:solidFill>
              </a:defRPr>
            </a:pPr>
            <a:r>
              <a:rPr sz="1350" b="1">
                <a:solidFill>
                  <a:srgbClr val="65CDFD"/>
                </a:solidFill>
              </a:rPr>
              <a:t>PACK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B4693-6D9F-40B7-9696-34209779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DF3EC"/>
                </a:solidFill>
              </a:defRPr>
            </a:pPr>
            <a:r>
              <a:rPr sz="2400" b="1">
                <a:solidFill>
                  <a:srgbClr val="EDF3EC"/>
                </a:solidFill>
              </a:rPr>
              <a:t>Relevant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0B6A3-01E7-48D9-8F29-61617BA8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48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E9995"/>
                </a:solidFill>
              </a:defRPr>
            </a:pPr>
            <a:r>
              <a:rPr sz="1650" b="0">
                <a:solidFill>
                  <a:srgbClr val="8E9995"/>
                </a:solidFill>
              </a:rPr>
              <a:t>EverOS returns approved memories for the question. The packer spends the remaining budget on the highest-value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8FCFA-662C-4007-B864-18B12548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41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DFD"/>
          </a:solidFill>
          <a:ln xmlns:a="http://schemas.openxmlformats.org/drawingml/2006/main" w="0">
            <a:solidFill>
              <a:srgbClr val="65CDF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1ED83-4593-44FC-9FF8-1879642F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34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EC"/>
                </a:solidFill>
              </a:defRPr>
            </a:pPr>
            <a:r>
              <a:rPr sz="1650" b="1">
                <a:solidFill>
                  <a:srgbClr val="EDF3EC"/>
                </a:solidFill>
              </a:rPr>
              <a:t>PACK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F2B4F-276A-4727-B1B1-FC053D91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581400" cy="36195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141818"/>
          </a:solidFill>
          <a:ln xmlns:a="http://schemas.openxmlformats.org/drawingml/2006/main" w="9525">
            <a:solidFill>
              <a:srgbClr val="2C34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5365D-CB9E-4498-9637-A6BD5D62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7FF3C"/>
                </a:solidFill>
              </a:defRPr>
            </a:pPr>
            <a:r>
              <a:rPr sz="2700" b="1">
                <a:solidFill>
                  <a:srgbClr val="B7FF3C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E3A34-AE5F-4C8B-80EB-416BA3DC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FF3C"/>
                </a:solidFill>
              </a:defRPr>
            </a:pPr>
            <a:r>
              <a:rPr sz="1350" b="1">
                <a:solidFill>
                  <a:srgbClr val="B7FF3C"/>
                </a:solidFill>
              </a:rPr>
              <a:t>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83BDB-3A55-40E1-9F60-22AF418F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DF3EC"/>
                </a:solidFill>
              </a:defRPr>
            </a:pPr>
            <a:r>
              <a:rPr sz="2400" b="1">
                <a:solidFill>
                  <a:srgbClr val="EDF3EC"/>
                </a:solidFill>
              </a:rPr>
              <a:t>Measured 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AF1067-0D14-4DAD-BB88-4DA87301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3048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E9995"/>
                </a:solidFill>
              </a:defRPr>
            </a:pPr>
            <a:r>
              <a:rPr sz="1650" b="0">
                <a:solidFill>
                  <a:srgbClr val="8E9995"/>
                </a:solidFill>
              </a:rPr>
              <a:t>The BYOK model answers once. Snowflake stores aggregate context economics—not raw activity or memory text.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454C6-581D-4A00-ADF9-21D28036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41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F3C"/>
          </a:solidFill>
          <a:ln xmlns:a="http://schemas.openxmlformats.org/drawingml/2006/main" w="0">
            <a:solidFill>
              <a:srgbClr val="B7FF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43538-70B3-463A-A4D4-26A72A52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34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EC"/>
                </a:solidFill>
              </a:defRPr>
            </a:pPr>
            <a:r>
              <a:rPr sz="1650" b="1">
                <a:solidFill>
                  <a:srgbClr val="EDF3EC"/>
                </a:solidFill>
              </a:rPr>
              <a:t>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608B2-C3C1-498B-9F30-71388DEC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A66"/>
                </a:solidFill>
              </a:defRPr>
            </a:pPr>
            <a:r>
              <a:rPr sz="1200" b="0">
                <a:solidFill>
                  <a:srgbClr val="5F6A6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4126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6C00F-7BFB-4E65-800F-C3A153B3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3EC"/>
                </a:solidFill>
              </a:defRPr>
            </a:pPr>
            <a:r>
              <a:rPr sz="3600" b="1">
                <a:solidFill>
                  <a:srgbClr val="EDF3EC"/>
                </a:solidFill>
              </a:rPr>
              <a:t>The user sees the context—and the cost.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714A2-8635-41C4-8109-84EFC03B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DF3EC"/>
                </a:solidFill>
              </a:defRPr>
            </a:pPr>
            <a:r>
              <a:rPr sz="2400" b="1">
                <a:solidFill>
                  <a:srgbClr val="EDF3EC"/>
                </a:solidFill>
              </a:rPr>
              <a:t>One question reveals: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32211-C15C-442D-8C29-65BB1886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F3C"/>
          </a:solidFill>
          <a:ln xmlns:a="http://schemas.openxmlformats.org/drawingml/2006/main" w="0">
            <a:solidFill>
              <a:srgbClr val="B7FF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C570C-9648-4822-958E-F7982D23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F3EC"/>
                </a:solidFill>
              </a:defRPr>
            </a:pPr>
            <a:r>
              <a:rPr sz="1800" b="0">
                <a:solidFill>
                  <a:srgbClr val="EDF3EC"/>
                </a:solidFill>
              </a:rPr>
              <a:t>which approved memories were retrieved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59688-8CD5-4F47-8F7F-306E716F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DFD"/>
          </a:solidFill>
          <a:ln xmlns:a="http://schemas.openxmlformats.org/drawingml/2006/main" w="0">
            <a:solidFill>
              <a:srgbClr val="65CD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5C2FB-F985-4AA2-951D-CE34CBD9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F3EC"/>
                </a:solidFill>
              </a:defRPr>
            </a:pPr>
            <a:r>
              <a:rPr sz="1800" b="0">
                <a:solidFill>
                  <a:srgbClr val="EDF3EC"/>
                </a:solidFill>
              </a:rPr>
              <a:t>which selected evidence fit the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D3F08-7D50-4C0C-89D3-CF298085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EC"/>
          </a:solidFill>
          <a:ln xmlns:a="http://schemas.openxmlformats.org/drawingml/2006/main" w="0">
            <a:solidFill>
              <a:srgbClr val="EDF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2004B-DB96-41A9-B0F3-0DF6E3CA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F3EC"/>
                </a:solidFill>
              </a:defRPr>
            </a:pPr>
            <a:r>
              <a:rPr sz="1800" b="1">
                <a:solidFill>
                  <a:srgbClr val="EDF3EC"/>
                </a:solidFill>
              </a:rPr>
              <a:t>how Full Context compares with KnowU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E824A-26A7-4E3B-B2B8-5EE73471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E9995"/>
                </a:solidFill>
              </a:defRPr>
            </a:pPr>
            <a:r>
              <a:rPr sz="1650" b="0">
                <a:solidFill>
                  <a:srgbClr val="8E9995"/>
                </a:solidFill>
              </a:rPr>
              <a:t>The baseline is comparison-only; the optimized prompt is the single answer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78AD3-961E-4B19-96F9-48EF089C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6858000" cy="4286250"/>
          </a:xfrm>
          <a:prstGeom xmlns:a="http://schemas.openxmlformats.org/drawingml/2006/main" prst="roundRect">
            <a:avLst>
              <a:gd name="adj" fmla="val 4889"/>
            </a:avLst>
          </a:prstGeom>
          <a:solidFill xmlns:a="http://schemas.openxmlformats.org/drawingml/2006/main">
            <a:srgbClr val="101313"/>
          </a:solidFill>
          <a:ln xmlns:a="http://schemas.openxmlformats.org/drawingml/2006/main" w="9525">
            <a:solidFill>
              <a:srgbClr val="33403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03bc5364c4f80"/>
          <a:srcRect xmlns:a="http://schemas.openxmlformats.org/drawingml/2006/main" l="0" t="1034" r="0" b="10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1733550"/>
            <a:ext cx="6629400" cy="4057650"/>
          </a:xfrm>
          <a:prstGeom xmlns:a="http://schemas.openxmlformats.org/drawingml/2006/main" prst="roundRect">
            <a:avLst>
              <a:gd name="adj" fmla="val 3286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CFA32-CD34-4F3D-A0FD-C4191F59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A66"/>
                </a:solidFill>
              </a:defRPr>
            </a:pPr>
            <a:r>
              <a:rPr sz="1200" b="0">
                <a:solidFill>
                  <a:srgbClr val="5F6A6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829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bab0976744b3c"/>
          <a:stretch xmlns:a="http://schemas.openxmlformats.org/drawingml/2006/main"/>
        </p:blipFill>
        <p:spPr>
          <a:xfrm xmlns:a="http://schemas.openxmlformats.org/drawingml/2006/main">
            <a:off x="419100" y="3238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3E388-D0F7-4E9F-B09A-BFCA2174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FF3C"/>
                </a:solidFill>
              </a:defRPr>
            </a:pPr>
            <a:r>
              <a:rPr sz="1350" b="1">
                <a:solidFill>
                  <a:srgbClr val="B7FF3C"/>
                </a:solidFill>
              </a:rPr>
              <a:t>KNOWU  /  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E8DE2-B106-4498-9FBC-841794D4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5429250"/>
          </a:xfrm>
          <a:prstGeom xmlns:a="http://schemas.openxmlformats.org/drawingml/2006/main" prst="roundRect">
            <a:avLst>
              <a:gd name="adj" fmla="val 3860"/>
            </a:avLst>
          </a:prstGeom>
          <a:solidFill xmlns:a="http://schemas.openxmlformats.org/drawingml/2006/main">
            <a:srgbClr val="0B0D0D"/>
          </a:solidFill>
          <a:ln xmlns:a="http://schemas.openxmlformats.org/drawingml/2006/main" w="19050">
            <a:solidFill>
              <a:srgbClr val="3038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28882-C77D-4723-B4BC-952D11E5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861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F6A66"/>
                </a:solidFill>
              </a:defRPr>
            </a:pPr>
            <a:r>
              <a:rPr sz="2700" b="1">
                <a:solidFill>
                  <a:srgbClr val="5F6A66"/>
                </a:solidFill>
              </a:rPr>
              <a:t>Insert video here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0F3C9-8520-4EF4-844E-28E6F290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6514D"/>
                </a:solidFill>
              </a:defRPr>
            </a:pPr>
            <a:r>
              <a:rPr sz="1650" b="0">
                <a:solidFill>
                  <a:srgbClr val="46514D"/>
                </a:solidFill>
              </a:rPr>
              <a:t>or switch to the live app</a:t>
            </a:r>
          </a:p>
        </p:txBody>
      </p:sp>
    </p:spTree>
    <p:extLst>
      <p:ext uri="{BB962C8B-B14F-4D97-AF65-F5344CB8AC3E}">
        <p14:creationId xmlns:p14="http://schemas.microsoft.com/office/powerpoint/2010/main" val="691624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A2CE5-A8B6-4FB1-8FED-F77D8D17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FF3C"/>
                </a:solidFill>
              </a:defRPr>
            </a:pPr>
            <a:r>
              <a:rPr sz="1350" b="1">
                <a:solidFill>
                  <a:srgbClr val="B7FF3C"/>
                </a:solidFill>
              </a:rPr>
              <a:t>TRACK 1  /  COST OF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DB716-EFC9-47D1-9E4E-85AD097A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9334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DF3EC"/>
                </a:solidFill>
              </a:defRPr>
            </a:pPr>
            <a:r>
              <a:rPr sz="5400" b="1">
                <a:solidFill>
                  <a:srgbClr val="EDF3EC"/>
                </a:solidFill>
              </a:rPr>
              <a:t>Personal AI should get smarter—not heavier.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81692-F0D2-41BF-8BE3-2DF6D802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847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E9995"/>
                </a:solidFill>
              </a:defRPr>
            </a:pPr>
            <a:r>
              <a:rPr sz="2400" b="1">
                <a:solidFill>
                  <a:srgbClr val="8E9995"/>
                </a:solidFill>
              </a:rPr>
              <a:t>KnowU remembers more, sends less, and proves the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72429-B068-46E1-AAFA-6251BA95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0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1AB49-324A-434F-883E-23C5A5C9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F3C"/>
          </a:solidFill>
          <a:ln xmlns:a="http://schemas.openxmlformats.org/drawingml/2006/main" w="0">
            <a:solidFill>
              <a:srgbClr val="B7FF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58AFD-49E9-46AD-B4BA-C1A7181E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3EC"/>
                </a:solidFill>
              </a:defRPr>
            </a:pPr>
            <a:r>
              <a:rPr sz="1350" b="1">
                <a:solidFill>
                  <a:srgbClr val="EDF3EC"/>
                </a:solidFill>
              </a:rPr>
              <a:t>LOCAL-FIRST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A8F0D-E8DE-4DF8-983A-66C4F1A7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96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DFD"/>
          </a:solidFill>
          <a:ln xmlns:a="http://schemas.openxmlformats.org/drawingml/2006/main" w="0">
            <a:solidFill>
              <a:srgbClr val="65CD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961B7-79EC-4D27-80ED-9FD5BAC9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876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3EC"/>
                </a:solidFill>
              </a:defRPr>
            </a:pPr>
            <a:r>
              <a:rPr sz="1350" b="1">
                <a:solidFill>
                  <a:srgbClr val="EDF3EC"/>
                </a:solidFill>
              </a:rPr>
              <a:t>EVEROS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0D1C6-9F68-4FCB-9D93-CF14D54C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96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F3C"/>
          </a:solidFill>
          <a:ln xmlns:a="http://schemas.openxmlformats.org/drawingml/2006/main" w="0">
            <a:solidFill>
              <a:srgbClr val="B7FF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0C361-3A04-4F3A-A6CC-2A5DA5B8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76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3EC"/>
                </a:solidFill>
              </a:defRPr>
            </a:pPr>
            <a:r>
              <a:rPr sz="1350" b="1">
                <a:solidFill>
                  <a:srgbClr val="EDF3EC"/>
                </a:solidFill>
              </a:rPr>
              <a:t>SNOWFLAKE ECONOMICS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fa56fafda4c18"/>
          <a:stretch xmlns:a="http://schemas.openxmlformats.org/drawingml/2006/main"/>
        </p:blipFill>
        <p:spPr>
          <a:xfrm xmlns:a="http://schemas.openxmlformats.org/drawingml/2006/main">
            <a:off x="10287000" y="4762500"/>
            <a:ext cx="1047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63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2026-08-07T22:25:42.7570000Z</dcterms:created>
  <dcterms:modified xsi:type="dcterms:W3CDTF">2026-08-07T22:25:42.7570000Z</dcterms:modified>
</coreProperties>
</file>